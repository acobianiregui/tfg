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4"/>
  </p:sldMasterIdLst>
  <p:notesMasterIdLst>
    <p:notesMasterId r:id="rId26"/>
  </p:notesMasterIdLst>
  <p:handoutMasterIdLst>
    <p:handoutMasterId r:id="rId27"/>
  </p:handoutMasterIdLst>
  <p:sldIdLst>
    <p:sldId id="257" r:id="rId5"/>
    <p:sldId id="346" r:id="rId6"/>
    <p:sldId id="274" r:id="rId7"/>
    <p:sldId id="361" r:id="rId8"/>
    <p:sldId id="362" r:id="rId9"/>
    <p:sldId id="363" r:id="rId10"/>
    <p:sldId id="364" r:id="rId11"/>
    <p:sldId id="365" r:id="rId12"/>
    <p:sldId id="372" r:id="rId13"/>
    <p:sldId id="369" r:id="rId14"/>
    <p:sldId id="366" r:id="rId15"/>
    <p:sldId id="367" r:id="rId16"/>
    <p:sldId id="376" r:id="rId17"/>
    <p:sldId id="368" r:id="rId18"/>
    <p:sldId id="377" r:id="rId19"/>
    <p:sldId id="374" r:id="rId20"/>
    <p:sldId id="378" r:id="rId21"/>
    <p:sldId id="375" r:id="rId22"/>
    <p:sldId id="370" r:id="rId23"/>
    <p:sldId id="373" r:id="rId24"/>
    <p:sldId id="371" r:id="rId25"/>
  </p:sldIdLst>
  <p:sldSz cx="9144000" cy="6858000" type="screen4x3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83"/>
    <a:srgbClr val="EFAD00"/>
    <a:srgbClr val="FFFF99"/>
    <a:srgbClr val="FF66CC"/>
    <a:srgbClr val="FFD08B"/>
    <a:srgbClr val="FFCCCC"/>
    <a:srgbClr val="966B00"/>
    <a:srgbClr val="993300"/>
    <a:srgbClr val="CB902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0196" autoAdjust="0"/>
  </p:normalViewPr>
  <p:slideViewPr>
    <p:cSldViewPr showGuides="1">
      <p:cViewPr varScale="1">
        <p:scale>
          <a:sx n="74" d="100"/>
          <a:sy n="74" d="100"/>
        </p:scale>
        <p:origin x="1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982" y="-9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4744" tIns="47373" rIns="94744" bIns="47373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4744" tIns="47373" rIns="94744" bIns="47373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A515755-6431-42CE-89F6-20D8220FD509}" type="datetimeFigureOut">
              <a:rPr lang="es-ES"/>
              <a:pPr>
                <a:defRPr/>
              </a:pPr>
              <a:t>22/03/2026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6575" cy="512762"/>
          </a:xfrm>
          <a:prstGeom prst="rect">
            <a:avLst/>
          </a:prstGeom>
        </p:spPr>
        <p:txBody>
          <a:bodyPr vert="horz" lIns="94744" tIns="47373" rIns="94744" bIns="47373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0263"/>
            <a:ext cx="3076575" cy="512762"/>
          </a:xfrm>
          <a:prstGeom prst="rect">
            <a:avLst/>
          </a:prstGeom>
        </p:spPr>
        <p:txBody>
          <a:bodyPr vert="horz" lIns="94744" tIns="47373" rIns="94744" bIns="47373" rtlCol="0" anchor="b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605E106-BB67-4C79-A57B-4DFD06C2127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157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>
            <a:lvl1pPr algn="l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>
            <a:lvl1pPr algn="r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9938"/>
            <a:ext cx="5111750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b" anchorCtr="0" compatLnSpc="1">
            <a:prstTxWarp prst="textNoShape">
              <a:avLst/>
            </a:prstTxWarp>
          </a:bodyPr>
          <a:lstStyle>
            <a:lvl1pPr algn="l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b" anchorCtr="0" compatLnSpc="1">
            <a:prstTxWarp prst="textNoShape">
              <a:avLst/>
            </a:prstTxWarp>
          </a:bodyPr>
          <a:lstStyle>
            <a:lvl1pPr algn="r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1035D325-021E-4272-9CEB-D44F6117877C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1187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9pPr>
          </a:lstStyle>
          <a:p>
            <a:fld id="{72C0D603-B88F-41B1-B11B-E6E60CA1AF32}" type="slidenum">
              <a:rPr lang="es-ES" altLang="es-ES" smtClean="0">
                <a:latin typeface="Arial" panose="020B0604020202020204" pitchFamily="34" charset="0"/>
              </a:rPr>
              <a:pPr/>
              <a:t>1</a:t>
            </a:fld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5175"/>
            <a:ext cx="5118100" cy="3840163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85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7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Explicar aquí cada objetivo y hacer hincapié en el tema de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35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Admitir que la estimación de tanto separación ciega como temporal es desproporcional frente al </a:t>
            </a:r>
            <a:r>
              <a:rPr lang="es-ES" dirty="0" err="1"/>
              <a:t>semi-ciego</a:t>
            </a:r>
            <a:r>
              <a:rPr lang="es-ES" dirty="0"/>
              <a:t>. Adicionalmente, me gustaría </a:t>
            </a:r>
            <a:r>
              <a:rPr lang="es-ES" dirty="0" err="1"/>
              <a:t>tambien</a:t>
            </a:r>
            <a:r>
              <a:rPr lang="es-ES" dirty="0"/>
              <a:t> plantear una versión </a:t>
            </a:r>
            <a:r>
              <a:rPr lang="es-ES" dirty="0" err="1"/>
              <a:t>convolutiva</a:t>
            </a:r>
            <a:r>
              <a:rPr lang="es-ES" dirty="0"/>
              <a:t> de ICA (en tiempo-frecuencia) a lo wavelet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534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TMR no es el mismo proceso que plantea Romano, pero permite al menos entender comportamientos similares en el EMG a los que se vería</a:t>
            </a:r>
            <a:br>
              <a:rPr lang="es-ES" dirty="0"/>
            </a:br>
            <a:r>
              <a:rPr lang="es-ES" dirty="0"/>
              <a:t>Se esperan datos de </a:t>
            </a:r>
            <a:r>
              <a:rPr lang="es-ES"/>
              <a:t>los conejos.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166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especificaciones del filtro. Explicar el motivo de IIR en vez de FIR. Mencionar por que </a:t>
            </a:r>
            <a:r>
              <a:rPr lang="es-ES" dirty="0" err="1"/>
              <a:t>whitening</a:t>
            </a:r>
            <a:r>
              <a:rPr lang="es-ES" dirty="0"/>
              <a:t> es importante para los modelos de </a:t>
            </a:r>
            <a:r>
              <a:rPr lang="es-ES" dirty="0" err="1"/>
              <a:t>separración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082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224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Comentar como s1&lt;s2,  a_21 &lt;&lt; resto de </a:t>
            </a:r>
            <a:r>
              <a:rPr lang="es-ES" dirty="0" err="1"/>
              <a:t>coeffs</a:t>
            </a:r>
            <a:r>
              <a:rPr lang="es-ES" dirty="0"/>
              <a:t>, cuando hay ruido es difícil de diferenciarlo de 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71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Ambas señales tienen un comportamiento relativamente similar en cuanto autocorrelaciones. La separación será decente pero es esperable que ICA sea mejor en casi todos los casos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207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1986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68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0641" y="-1"/>
            <a:ext cx="9218639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71520" y="1939610"/>
            <a:ext cx="5618480" cy="2341244"/>
          </a:xfrm>
        </p:spPr>
        <p:txBody>
          <a:bodyPr anchor="t">
            <a:noAutofit/>
          </a:bodyPr>
          <a:lstStyle>
            <a:lvl1pPr>
              <a:defRPr lang="en-US" sz="3733" b="1" noProof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defTabSz="914354"/>
            <a:r>
              <a:rPr lang="es-ES_tradnl" noProof="0" dirty="0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71520" y="4819333"/>
            <a:ext cx="5618480" cy="1500187"/>
          </a:xfrm>
        </p:spPr>
        <p:txBody>
          <a:bodyPr>
            <a:normAutofit/>
          </a:bodyPr>
          <a:lstStyle>
            <a:lvl1pPr>
              <a:defRPr lang="en-US" sz="2800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589" lvl="0" indent="-228589" defTabSz="914354">
              <a:buFont typeface="Wingdings" panose="05000000000000000000" pitchFamily="2" charset="2"/>
              <a:buChar char="§"/>
            </a:pPr>
            <a:r>
              <a:rPr lang="es-ES_tradnl" noProof="0"/>
              <a:t>Haga clic para modificar el estilo de texto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6DF747-F3CE-4E1E-A11E-BAE870BD01CB}"/>
              </a:ext>
            </a:extLst>
          </p:cNvPr>
          <p:cNvSpPr/>
          <p:nvPr userDrawn="1"/>
        </p:nvSpPr>
        <p:spPr>
          <a:xfrm>
            <a:off x="-40640" y="6588760"/>
            <a:ext cx="1524000" cy="269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1F19D-C1F2-A541-A1F7-74A8AD3A04A6}"/>
              </a:ext>
            </a:extLst>
          </p:cNvPr>
          <p:cNvSpPr txBox="1"/>
          <p:nvPr userDrawn="1"/>
        </p:nvSpPr>
        <p:spPr>
          <a:xfrm>
            <a:off x="3271520" y="260648"/>
            <a:ext cx="1840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noProof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ICAI – GITT</a:t>
            </a:r>
          </a:p>
        </p:txBody>
      </p:sp>
    </p:spTree>
    <p:extLst>
      <p:ext uri="{BB962C8B-B14F-4D97-AF65-F5344CB8AC3E}">
        <p14:creationId xmlns:p14="http://schemas.microsoft.com/office/powerpoint/2010/main" val="181263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09756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7730" y="1825625"/>
            <a:ext cx="357667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92041" y="1825625"/>
            <a:ext cx="362331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311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algn="ctr"/>
            <a:fld id="{D37213CB-1ECD-4F3D-B179-C0F228892E9C}" type="slidenum">
              <a:rPr lang="es-ES" smtClean="0"/>
              <a:pPr algn="ctr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41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09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se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820739" y="2420939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 flipH="1">
            <a:off x="582613" y="3186113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850900" y="143351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H="1" flipV="1">
            <a:off x="754065" y="1557339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2516188" y="12684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H="1">
            <a:off x="2163763" y="1544639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V="1">
            <a:off x="877888" y="521176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H="1" flipV="1">
            <a:off x="781052" y="5335588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7697788" y="37322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7345363" y="4008437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auto">
          <a:xfrm>
            <a:off x="1" y="6389688"/>
            <a:ext cx="7143751" cy="468312"/>
          </a:xfrm>
          <a:prstGeom prst="rect">
            <a:avLst/>
          </a:prstGeom>
          <a:solidFill>
            <a:srgbClr val="163E8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Optima" panose="02000503060000020004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9pPr>
          </a:lstStyle>
          <a:p>
            <a:pPr algn="ctr" eaLnBrk="1" hangingPunct="1"/>
            <a:endParaRPr lang="es-ES" altLang="es-ES" sz="135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74836" y="1587502"/>
            <a:ext cx="1587011" cy="1552575"/>
          </a:xfrm>
          <a:solidFill>
            <a:schemeClr val="accent1">
              <a:lumMod val="40000"/>
              <a:lumOff val="60000"/>
            </a:schemeClr>
          </a:solidFill>
          <a:ln w="9525"/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1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74836" y="4014788"/>
            <a:ext cx="6821365" cy="1314451"/>
          </a:xfrm>
          <a:noFill/>
        </p:spPr>
        <p:txBody>
          <a:bodyPr tIns="108000" bIns="108000" anchor="ctr"/>
          <a:lstStyle>
            <a:lvl1pPr marL="271456" indent="-271456" algn="ctr" eaLnBrk="1" hangingPunct="1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701A1F-3DDD-41D4-A1D1-2F23B1D036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88" y="5969905"/>
            <a:ext cx="1691677" cy="8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1458" b="11233"/>
          <a:stretch/>
        </p:blipFill>
        <p:spPr>
          <a:xfrm>
            <a:off x="5306096" y="2420247"/>
            <a:ext cx="3837904" cy="39392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319" y="80576"/>
            <a:ext cx="7912188" cy="10167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s-ES_tradnl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2" name="Rectangle 50"/>
          <p:cNvSpPr>
            <a:spLocks noChangeArrowheads="1"/>
          </p:cNvSpPr>
          <p:nvPr/>
        </p:nvSpPr>
        <p:spPr bwMode="auto">
          <a:xfrm>
            <a:off x="896096" y="6399284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l" defTabSz="1015975" eaLnBrk="0" hangingPunct="0">
              <a:defRPr/>
            </a:pPr>
            <a:r>
              <a:rPr lang="es-ES_tradnl" sz="1200" b="1" noProof="0" dirty="0">
                <a:solidFill>
                  <a:schemeClr val="tx1"/>
                </a:solidFill>
                <a:latin typeface="+mj-lt"/>
              </a:rPr>
              <a:t>TFG</a:t>
            </a:r>
          </a:p>
          <a:p>
            <a:pPr algn="l" defTabSz="1015975" eaLnBrk="0" hangingPunct="0">
              <a:defRPr/>
            </a:pPr>
            <a:r>
              <a:rPr lang="es-ES_tradnl" sz="1200" b="1" noProof="0" dirty="0">
                <a:solidFill>
                  <a:srgbClr val="808080"/>
                </a:solidFill>
                <a:latin typeface="+mj-lt"/>
              </a:rPr>
              <a:t>ICAI – Grado en Ingeniería de Telecomunicación</a:t>
            </a:r>
          </a:p>
        </p:txBody>
      </p:sp>
      <p:sp>
        <p:nvSpPr>
          <p:cNvPr id="13" name="Rectangle 50"/>
          <p:cNvSpPr>
            <a:spLocks noChangeArrowheads="1"/>
          </p:cNvSpPr>
          <p:nvPr/>
        </p:nvSpPr>
        <p:spPr bwMode="auto">
          <a:xfrm>
            <a:off x="3562840" y="6400692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r>
              <a:rPr lang="es-ES_tradnl" sz="1200" b="1" noProof="0" dirty="0">
                <a:solidFill>
                  <a:schemeClr val="tx1"/>
                </a:solidFill>
                <a:latin typeface="+mj-lt"/>
              </a:rPr>
              <a:t>Separación de señales EMG</a:t>
            </a:r>
          </a:p>
          <a:p>
            <a:pPr algn="r" defTabSz="1015975" eaLnBrk="0" hangingPunct="0">
              <a:defRPr/>
            </a:pPr>
            <a:r>
              <a:rPr lang="es-ES_tradnl" sz="1200" b="1" dirty="0">
                <a:solidFill>
                  <a:srgbClr val="808080"/>
                </a:solidFill>
                <a:latin typeface="+mj-lt"/>
              </a:rPr>
              <a:t>Curso 2025-2026</a:t>
            </a:r>
          </a:p>
        </p:txBody>
      </p: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8348708" y="6420739"/>
            <a:ext cx="522577" cy="40701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fld id="{11564133-8E01-494E-9A79-52127C69F167}" type="slidenum">
              <a:rPr lang="es-ES_tradnl" sz="1867" b="0" smtClean="0">
                <a:solidFill>
                  <a:schemeClr val="tx1"/>
                </a:solidFill>
                <a:latin typeface="+mj-lt"/>
              </a:rPr>
              <a:pPr algn="r" defTabSz="1015975" eaLnBrk="0" hangingPunct="0">
                <a:defRPr/>
              </a:pPr>
              <a:t>‹#›</a:t>
            </a:fld>
            <a:endParaRPr lang="es-ES_tradnl" sz="1867"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19" y="1192107"/>
            <a:ext cx="7912188" cy="5161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5"/>
            <a:r>
              <a:rPr lang="es-ES_tradnl" noProof="0"/>
              <a:t>Quinto nivel</a:t>
            </a:r>
            <a:endParaRPr lang="es-ES_tradnl" noProof="0" dirty="0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8851" y="165658"/>
            <a:ext cx="807244" cy="752975"/>
          </a:xfrm>
          <a:prstGeom prst="rect">
            <a:avLst/>
          </a:prstGeom>
        </p:spPr>
      </p:pic>
      <p:cxnSp>
        <p:nvCxnSpPr>
          <p:cNvPr id="9" name="Conector recto 8"/>
          <p:cNvCxnSpPr/>
          <p:nvPr userDrawn="1"/>
        </p:nvCxnSpPr>
        <p:spPr>
          <a:xfrm>
            <a:off x="933319" y="6437629"/>
            <a:ext cx="1460632" cy="0"/>
          </a:xfrm>
          <a:prstGeom prst="line">
            <a:avLst/>
          </a:prstGeom>
          <a:ln>
            <a:solidFill>
              <a:srgbClr val="173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5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733" b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j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7 Título"/>
          <p:cNvSpPr>
            <a:spLocks noGrp="1"/>
          </p:cNvSpPr>
          <p:nvPr>
            <p:ph type="title"/>
          </p:nvPr>
        </p:nvSpPr>
        <p:spPr>
          <a:ln w="9525"/>
        </p:spPr>
        <p:txBody>
          <a:bodyPr/>
          <a:lstStyle/>
          <a:p>
            <a:r>
              <a:rPr lang="es-ES" altLang="es-ES" dirty="0"/>
              <a:t>Trabajo Fin de Grado</a:t>
            </a:r>
            <a:br>
              <a:rPr lang="es-ES" altLang="es-ES" dirty="0"/>
            </a:br>
            <a:r>
              <a:rPr lang="es-ES" altLang="es-ES" b="0" dirty="0"/>
              <a:t>Separación de señales </a:t>
            </a:r>
            <a:r>
              <a:rPr lang="es-ES" altLang="es-ES" b="0" dirty="0" err="1"/>
              <a:t>electromiográficas</a:t>
            </a:r>
            <a:endParaRPr lang="es-ES" altLang="es-ES" b="0" dirty="0"/>
          </a:p>
        </p:txBody>
      </p:sp>
      <p:sp>
        <p:nvSpPr>
          <p:cNvPr id="7171" name="3 Subtítul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altLang="es-ES" dirty="0"/>
              <a:t>Antón Cobián Iregui – 4ºX GITT</a:t>
            </a:r>
          </a:p>
          <a:p>
            <a:pPr marL="0" indent="0">
              <a:buNone/>
            </a:pPr>
            <a:r>
              <a:rPr lang="es-ES" altLang="es-ES" dirty="0"/>
              <a:t>Director: Romano Giannetti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714750" y="5956300"/>
            <a:ext cx="5286375" cy="901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 anchorCtr="1"/>
          <a:lstStyle>
            <a:lvl1pPr marL="0" marR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sz="1800" baseline="0"/>
            </a:lvl1pPr>
          </a:lstStyle>
          <a:p>
            <a:pPr>
              <a:defRPr/>
            </a:pPr>
            <a:endParaRPr lang="es-ES_tradnl" sz="1400" kern="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 dirty="0"/>
              <a:t>Índice de la presentación</a:t>
            </a:r>
          </a:p>
        </p:txBody>
      </p:sp>
      <p:sp>
        <p:nvSpPr>
          <p:cNvPr id="9219" name="2 Marcador de contenido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161279"/>
          </a:xfrm>
        </p:spPr>
        <p:txBody>
          <a:bodyPr/>
          <a:lstStyle/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Introducción</a:t>
            </a:r>
          </a:p>
          <a:p>
            <a:pPr marL="914389" lvl="1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Contexto y estado del arte</a:t>
            </a:r>
          </a:p>
          <a:p>
            <a:pPr marL="914389" lvl="1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Motivación y objetivos</a:t>
            </a: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Plan de trabajo y recursos (Anexo vs Actualidad)</a:t>
            </a: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Trabajo desarrollado hasta la fecha</a:t>
            </a:r>
          </a:p>
          <a:p>
            <a:pPr marL="914389" lvl="1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Bases de datos</a:t>
            </a:r>
          </a:p>
          <a:p>
            <a:pPr marL="914389" lvl="1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Preprocesamiento</a:t>
            </a:r>
          </a:p>
          <a:p>
            <a:pPr marL="914389" lvl="1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Aplicación de algoritmos de separación</a:t>
            </a:r>
          </a:p>
          <a:p>
            <a:pPr marL="1371577" lvl="2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Separación según independencia estadística</a:t>
            </a:r>
          </a:p>
          <a:p>
            <a:pPr marL="1371577" lvl="2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Separación según independencia temporal</a:t>
            </a:r>
          </a:p>
          <a:p>
            <a:pPr marL="1371577" lvl="2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Separación </a:t>
            </a:r>
            <a:r>
              <a:rPr lang="es-ES_tradnl" altLang="es-ES" dirty="0" err="1"/>
              <a:t>semi-ciega</a:t>
            </a:r>
            <a:endParaRPr lang="es-ES_tradnl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Conclusiones </a:t>
            </a:r>
          </a:p>
          <a:p>
            <a:pPr marL="0" indent="0">
              <a:buNone/>
            </a:pP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endParaRPr lang="es-ES_tradnl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endParaRPr lang="es-ES" altLang="es-E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3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altLang="es-ES" dirty="0"/>
              <a:t>1</a:t>
            </a:r>
            <a:endParaRPr lang="es-ES" altLang="es-ES" dirty="0"/>
          </a:p>
        </p:txBody>
      </p:sp>
      <p:sp>
        <p:nvSpPr>
          <p:cNvPr id="10242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altLang="es-ES" dirty="0"/>
              <a:t>Introducción (Anexo B)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1666-C2E4-B243-9DF7-4031D477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319" y="80576"/>
            <a:ext cx="7912188" cy="1016705"/>
          </a:xfrm>
        </p:spPr>
        <p:txBody>
          <a:bodyPr anchor="ctr">
            <a:normAutofit fontScale="90000"/>
          </a:bodyPr>
          <a:lstStyle/>
          <a:p>
            <a:r>
              <a:rPr lang="en-US" dirty="0" err="1"/>
              <a:t>Separación</a:t>
            </a:r>
            <a:r>
              <a:rPr lang="en-US" dirty="0"/>
              <a:t> de </a:t>
            </a:r>
            <a:r>
              <a:rPr lang="en-US" dirty="0" err="1"/>
              <a:t>fuentes</a:t>
            </a:r>
            <a:r>
              <a:rPr lang="en-US" dirty="0"/>
              <a:t> - Telecomunicaciones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AAD5CE-A93B-D06A-4134-05626A7E5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0"/>
            <a:ext cx="3886200" cy="435133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Sensores</a:t>
            </a:r>
            <a:r>
              <a:rPr lang="en-US" sz="2800" dirty="0"/>
              <a:t> </a:t>
            </a:r>
            <a:r>
              <a:rPr lang="en-US" sz="2800" dirty="0" err="1"/>
              <a:t>reciben</a:t>
            </a:r>
            <a:r>
              <a:rPr lang="en-US" sz="2800" dirty="0"/>
              <a:t> </a:t>
            </a:r>
            <a:r>
              <a:rPr lang="en-US" sz="2800" dirty="0" err="1"/>
              <a:t>mezcla</a:t>
            </a:r>
            <a:r>
              <a:rPr lang="en-US" sz="2800" dirty="0"/>
              <a:t> de </a:t>
            </a:r>
            <a:r>
              <a:rPr lang="en-US" sz="2800" dirty="0" err="1"/>
              <a:t>señales</a:t>
            </a: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Se </a:t>
            </a:r>
            <a:r>
              <a:rPr lang="en-US" sz="2800" dirty="0" err="1"/>
              <a:t>desconoce</a:t>
            </a:r>
            <a:r>
              <a:rPr lang="en-US" sz="2800" dirty="0"/>
              <a:t> tanto </a:t>
            </a:r>
            <a:r>
              <a:rPr lang="en-US" sz="2800" dirty="0" err="1"/>
              <a:t>fuentes</a:t>
            </a:r>
            <a:r>
              <a:rPr lang="en-US" sz="2800" dirty="0"/>
              <a:t> </a:t>
            </a:r>
            <a:r>
              <a:rPr lang="en-US" sz="2800" dirty="0" err="1"/>
              <a:t>como</a:t>
            </a:r>
            <a:r>
              <a:rPr lang="en-US" sz="2800" dirty="0"/>
              <a:t> medio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Se propone </a:t>
            </a:r>
            <a:r>
              <a:rPr lang="en-US" sz="2800" dirty="0" err="1"/>
              <a:t>recuperar</a:t>
            </a:r>
            <a:r>
              <a:rPr lang="en-US" sz="2800" dirty="0"/>
              <a:t> </a:t>
            </a:r>
            <a:r>
              <a:rPr lang="en-US" sz="2800" dirty="0" err="1"/>
              <a:t>fuentres</a:t>
            </a:r>
            <a:r>
              <a:rPr lang="en-US" sz="2800" dirty="0"/>
              <a:t> </a:t>
            </a:r>
            <a:r>
              <a:rPr lang="en-US" sz="2800" dirty="0" err="1"/>
              <a:t>originales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30749-39D7-EA43-0E2B-0D24FB621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196" y="1600200"/>
            <a:ext cx="3623311" cy="278089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85341-FC71-7AAE-9D85-FC9743D2D922}"/>
              </a:ext>
            </a:extLst>
          </p:cNvPr>
          <p:cNvSpPr txBox="1"/>
          <p:nvPr/>
        </p:nvSpPr>
        <p:spPr>
          <a:xfrm>
            <a:off x="5890851" y="46482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+mn-lt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5021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227CC-1778-D124-B164-1637AD70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Contexto y Estado del Arte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1F351-B642-1F83-F179-BB71D6EBC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46" y="848360"/>
            <a:ext cx="8693107" cy="5161279"/>
          </a:xfrm>
        </p:spPr>
        <p:txBody>
          <a:bodyPr/>
          <a:lstStyle/>
          <a:p>
            <a:r>
              <a:rPr lang="es-ES" sz="2600" dirty="0"/>
              <a:t>Presente en la ingeniería biomédica</a:t>
            </a:r>
          </a:p>
          <a:p>
            <a:pPr lvl="1"/>
            <a:r>
              <a:rPr lang="es-ES" sz="2200" dirty="0"/>
              <a:t>Especialmente en EEG (señales con múltiples fuentes)</a:t>
            </a:r>
          </a:p>
          <a:p>
            <a:pPr lvl="1"/>
            <a:r>
              <a:rPr lang="es-ES" sz="2200" dirty="0"/>
              <a:t>Técnica de preprocesamiento</a:t>
            </a:r>
          </a:p>
          <a:p>
            <a:r>
              <a:rPr lang="es-ES" sz="2600" dirty="0"/>
              <a:t>Para identificar MU en HD </a:t>
            </a:r>
            <a:r>
              <a:rPr lang="es-ES" sz="2600" dirty="0" err="1"/>
              <a:t>sEMG</a:t>
            </a:r>
            <a:r>
              <a:rPr lang="es-ES" sz="2600" dirty="0"/>
              <a:t> se emplea versiones guiadas de ICA. [2]</a:t>
            </a:r>
          </a:p>
          <a:p>
            <a:r>
              <a:rPr lang="es-ES" sz="2600" dirty="0"/>
              <a:t>Actualmente no se ha explorado a fondo en </a:t>
            </a:r>
            <a:r>
              <a:rPr lang="es-ES" sz="2600" dirty="0" err="1"/>
              <a:t>protésis</a:t>
            </a:r>
            <a:r>
              <a:rPr lang="es-ES" sz="2600" dirty="0"/>
              <a:t> EMG 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pic>
        <p:nvPicPr>
          <p:cNvPr id="1026" name="Picture 2" descr="(left) A 5-sec portion of an EEG time series. (center) ICA components accounting for eye movements, cardiac signals, and line noise sources. (right) The same EEG signals`correctedsignals`corrected' for artifacts by removing the ve selected components.">
            <a:extLst>
              <a:ext uri="{FF2B5EF4-FFF2-40B4-BE49-F238E27FC236}">
                <a16:creationId xmlns:a16="http://schemas.microsoft.com/office/drawing/2014/main" id="{F1737657-4DAF-882A-CE60-042862CFE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4180609" cy="280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9959A6-4773-1121-BDAF-1418CA01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23" y="3276601"/>
            <a:ext cx="4571676" cy="28083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DA0ED7-638E-11FB-3C0C-7619FE0D4445}"/>
              </a:ext>
            </a:extLst>
          </p:cNvPr>
          <p:cNvSpPr txBox="1"/>
          <p:nvPr/>
        </p:nvSpPr>
        <p:spPr>
          <a:xfrm>
            <a:off x="1143000" y="608498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+mn-lt"/>
              </a:rPr>
              <a:t>[3]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35860-9C5E-1E4C-1354-CD11AE7C4EC9}"/>
              </a:ext>
            </a:extLst>
          </p:cNvPr>
          <p:cNvSpPr txBox="1"/>
          <p:nvPr/>
        </p:nvSpPr>
        <p:spPr>
          <a:xfrm>
            <a:off x="5638800" y="608498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+mn-lt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92003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8DFE-7DBF-8082-6F81-E04F2FF4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319" y="80575"/>
            <a:ext cx="7912188" cy="1016705"/>
          </a:xfrm>
        </p:spPr>
        <p:txBody>
          <a:bodyPr anchor="ctr">
            <a:normAutofit/>
          </a:bodyPr>
          <a:lstStyle/>
          <a:p>
            <a:r>
              <a:rPr lang="es-ES" dirty="0"/>
              <a:t>Motivación : </a:t>
            </a:r>
            <a:r>
              <a:rPr lang="es-ES" dirty="0" err="1"/>
              <a:t>Reinervación</a:t>
            </a:r>
            <a:r>
              <a:rPr lang="es-ES" dirty="0"/>
              <a:t> muscular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3798-8F74-5AE2-462A-5FA8E179A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724400" cy="4957764"/>
          </a:xfrm>
        </p:spPr>
        <p:txBody>
          <a:bodyPr>
            <a:normAutofit lnSpcReduction="10000"/>
          </a:bodyPr>
          <a:lstStyle/>
          <a:p>
            <a:r>
              <a:rPr lang="es-ES" sz="2700" dirty="0"/>
              <a:t>Nervios se redirigen. Técnicas:</a:t>
            </a:r>
          </a:p>
          <a:p>
            <a:pPr lvl="1"/>
            <a:r>
              <a:rPr lang="es-ES" sz="2167" dirty="0"/>
              <a:t>TMR</a:t>
            </a:r>
          </a:p>
          <a:p>
            <a:pPr lvl="1"/>
            <a:r>
              <a:rPr lang="es-ES" sz="2167" dirty="0"/>
              <a:t>RPNI</a:t>
            </a:r>
          </a:p>
          <a:p>
            <a:pPr lvl="1"/>
            <a:r>
              <a:rPr lang="es-ES" sz="2167" dirty="0"/>
              <a:t>Otros (</a:t>
            </a:r>
            <a:r>
              <a:rPr lang="es-ES" sz="2167" dirty="0">
                <a:solidFill>
                  <a:srgbClr val="FF0000"/>
                </a:solidFill>
              </a:rPr>
              <a:t>aquí como menciono vuestra técnica????)</a:t>
            </a:r>
            <a:endParaRPr lang="es-ES" sz="2700" dirty="0"/>
          </a:p>
          <a:p>
            <a:r>
              <a:rPr lang="es-ES" sz="2700" dirty="0"/>
              <a:t>Se modifica la morfología</a:t>
            </a:r>
          </a:p>
          <a:p>
            <a:endParaRPr lang="es-ES" sz="2700" dirty="0"/>
          </a:p>
          <a:p>
            <a:r>
              <a:rPr lang="es-ES" sz="2700" dirty="0"/>
              <a:t>Mezcla entre </a:t>
            </a:r>
            <a:r>
              <a:rPr lang="es-ES" sz="2700" b="1" dirty="0"/>
              <a:t>señal nerviosa y muscular</a:t>
            </a:r>
          </a:p>
          <a:p>
            <a:endParaRPr lang="es-ES" sz="2700" dirty="0"/>
          </a:p>
          <a:p>
            <a:r>
              <a:rPr lang="es-ES" sz="2700" dirty="0"/>
              <a:t>Limita el control de prótesis basadas en EMG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BF4022E-3A5F-4DEB-E9AD-E55C3EB87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5331" y="2209800"/>
            <a:ext cx="4013869" cy="285988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D4850B-35FF-EFF4-83F5-C2CECEEF052C}"/>
              </a:ext>
            </a:extLst>
          </p:cNvPr>
          <p:cNvSpPr txBox="1"/>
          <p:nvPr/>
        </p:nvSpPr>
        <p:spPr>
          <a:xfrm>
            <a:off x="5536865" y="5257800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+mj-lt"/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152859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9B4E-5C13-3C5B-6797-10546A65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2732-290B-7751-9EDF-22641B95C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2107"/>
            <a:ext cx="8388307" cy="5161279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s-ES" dirty="0"/>
              <a:t>Analizar y entender señales EMG </a:t>
            </a:r>
            <a:r>
              <a:rPr lang="es-ES" dirty="0" err="1"/>
              <a:t>reinervadas</a:t>
            </a:r>
            <a:endParaRPr lang="es-ES" dirty="0"/>
          </a:p>
          <a:p>
            <a:pPr marL="571500" indent="-571500">
              <a:buFont typeface="+mj-lt"/>
              <a:buAutoNum type="romanUcPeriod"/>
            </a:pPr>
            <a:endParaRPr lang="es-ES" dirty="0"/>
          </a:p>
          <a:p>
            <a:pPr marL="571500" indent="-571500">
              <a:buFont typeface="+mj-lt"/>
              <a:buAutoNum type="romanUcPeriod"/>
            </a:pPr>
            <a:r>
              <a:rPr lang="es-ES" dirty="0"/>
              <a:t>Discutir algoritmos de separación. </a:t>
            </a:r>
          </a:p>
          <a:p>
            <a:pPr marL="571500" indent="-571500">
              <a:buFont typeface="+mj-lt"/>
              <a:buAutoNum type="romanUcPeriod"/>
            </a:pPr>
            <a:endParaRPr lang="es-ES" dirty="0"/>
          </a:p>
          <a:p>
            <a:pPr marL="571500" indent="-571500">
              <a:buFont typeface="+mj-lt"/>
              <a:buAutoNum type="romanUcPeriod"/>
            </a:pPr>
            <a:r>
              <a:rPr lang="es-ES" dirty="0"/>
              <a:t>Simular y probar en simulaciones y datos reales</a:t>
            </a:r>
          </a:p>
          <a:p>
            <a:pPr marL="571500" indent="-571500">
              <a:buFont typeface="+mj-lt"/>
              <a:buAutoNum type="romanUcPeriod"/>
            </a:pPr>
            <a:endParaRPr lang="es-ES" dirty="0"/>
          </a:p>
          <a:p>
            <a:pPr marL="571500" indent="-571500">
              <a:buFont typeface="+mj-lt"/>
              <a:buAutoNum type="romanUcPeriod"/>
            </a:pPr>
            <a:r>
              <a:rPr lang="es-ES" dirty="0"/>
              <a:t>Implementación en vivo -&gt; </a:t>
            </a:r>
            <a:r>
              <a:rPr lang="es-ES" b="1" dirty="0"/>
              <a:t>Online/Causal</a:t>
            </a:r>
          </a:p>
        </p:txBody>
      </p:sp>
    </p:spTree>
    <p:extLst>
      <p:ext uri="{BB962C8B-B14F-4D97-AF65-F5344CB8AC3E}">
        <p14:creationId xmlns:p14="http://schemas.microsoft.com/office/powerpoint/2010/main" val="123406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3ED4-1F73-4694-2C98-156A9232D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E41A7-9013-E7FA-96D7-D1C238451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Plan de trabajo y recursos</a:t>
            </a:r>
          </a:p>
        </p:txBody>
      </p:sp>
    </p:spTree>
    <p:extLst>
      <p:ext uri="{BB962C8B-B14F-4D97-AF65-F5344CB8AC3E}">
        <p14:creationId xmlns:p14="http://schemas.microsoft.com/office/powerpoint/2010/main" val="103586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7E0D-1D16-8F8F-0638-380402E2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vs Estado Actual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14B6D1-E5A2-71BA-EB15-39078AB60B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1006925"/>
              </p:ext>
            </p:extLst>
          </p:nvPr>
        </p:nvGraphicFramePr>
        <p:xfrm>
          <a:off x="692703" y="3581400"/>
          <a:ext cx="7912100" cy="259588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956050">
                  <a:extLst>
                    <a:ext uri="{9D8B030D-6E8A-4147-A177-3AD203B41FA5}">
                      <a16:colId xmlns:a16="http://schemas.microsoft.com/office/drawing/2014/main" val="2967779085"/>
                    </a:ext>
                  </a:extLst>
                </a:gridCol>
                <a:gridCol w="3956050">
                  <a:extLst>
                    <a:ext uri="{9D8B030D-6E8A-4147-A177-3AD203B41FA5}">
                      <a16:colId xmlns:a16="http://schemas.microsoft.com/office/drawing/2014/main" val="2252277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Anexo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92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Preprocesamiento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Implementado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1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Implementado y validado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7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SOBI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Implementado y validado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Semi-ciego</a:t>
                      </a:r>
                      <a:r>
                        <a:rPr lang="es-ES" dirty="0"/>
                        <a:t>/referencia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Optimizando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98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Adiciones (</a:t>
                      </a:r>
                      <a:r>
                        <a:rPr lang="es-ES" dirty="0" err="1"/>
                        <a:t>conv</a:t>
                      </a:r>
                      <a:r>
                        <a:rPr lang="es-ES" dirty="0"/>
                        <a:t> ICA y otros)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En desarrollo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27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Análisis en nuevos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Por especificar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33488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9221E49-B589-D5C9-42B8-FB4103317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1"/>
            <a:ext cx="792590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2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E9034-5DDD-4D58-D704-559C6D878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7BF9E-6DCB-2F79-3CCE-22E053BCD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Trabajo desarrollado</a:t>
            </a:r>
          </a:p>
        </p:txBody>
      </p:sp>
    </p:spTree>
    <p:extLst>
      <p:ext uri="{BB962C8B-B14F-4D97-AF65-F5344CB8AC3E}">
        <p14:creationId xmlns:p14="http://schemas.microsoft.com/office/powerpoint/2010/main" val="852564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9D95-1219-AF72-69BE-82C3376C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Bases de datos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613B-F58F-39BB-9E09-226E77BA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92105"/>
            <a:ext cx="7912188" cy="5161279"/>
          </a:xfrm>
        </p:spPr>
        <p:txBody>
          <a:bodyPr/>
          <a:lstStyle/>
          <a:p>
            <a:r>
              <a:rPr lang="es-ES" sz="2800" dirty="0"/>
              <a:t>Base de amputados </a:t>
            </a:r>
            <a:r>
              <a:rPr lang="es-ES" sz="2800" dirty="0" err="1"/>
              <a:t>transradiales</a:t>
            </a:r>
            <a:endParaRPr lang="es-ES" sz="2800" dirty="0"/>
          </a:p>
          <a:p>
            <a:pPr lvl="1"/>
            <a:r>
              <a:rPr lang="es-ES" sz="2267" dirty="0"/>
              <a:t>32 canales  a 1 </a:t>
            </a:r>
            <a:r>
              <a:rPr lang="es-ES" sz="2267" dirty="0" err="1"/>
              <a:t>Khz</a:t>
            </a:r>
            <a:endParaRPr lang="es-ES" sz="2267" dirty="0"/>
          </a:p>
          <a:p>
            <a:pPr lvl="1"/>
            <a:r>
              <a:rPr lang="es-ES" sz="2267" dirty="0"/>
              <a:t>Pacientes de TMR</a:t>
            </a:r>
          </a:p>
          <a:p>
            <a:pPr lvl="1"/>
            <a:r>
              <a:rPr lang="es-ES" sz="2267" dirty="0"/>
              <a:t>Existen </a:t>
            </a:r>
            <a:r>
              <a:rPr lang="es-ES" sz="2267" dirty="0" err="1"/>
              <a:t>grabacions</a:t>
            </a:r>
            <a:r>
              <a:rPr lang="es-ES" sz="2267" dirty="0"/>
              <a:t> pre y post</a:t>
            </a:r>
            <a:endParaRPr lang="es-ES" sz="2800" dirty="0"/>
          </a:p>
          <a:p>
            <a:r>
              <a:rPr lang="es-ES" sz="2800" dirty="0"/>
              <a:t>Base artificial (Python)</a:t>
            </a:r>
          </a:p>
          <a:p>
            <a:pPr lvl="1"/>
            <a:r>
              <a:rPr lang="es-ES" sz="2267" dirty="0"/>
              <a:t>Señales tipo EMG simuladas</a:t>
            </a:r>
          </a:p>
          <a:p>
            <a:pPr lvl="1"/>
            <a:r>
              <a:rPr lang="es-ES" sz="2267" dirty="0"/>
              <a:t>Basado en modulación AM</a:t>
            </a:r>
          </a:p>
          <a:p>
            <a:pPr lvl="1"/>
            <a:r>
              <a:rPr lang="es-ES" sz="2267" dirty="0"/>
              <a:t>Pruebas específicas</a:t>
            </a:r>
          </a:p>
          <a:p>
            <a:pPr lvl="1"/>
            <a:endParaRPr lang="es-ES" sz="2800" dirty="0"/>
          </a:p>
          <a:p>
            <a:r>
              <a:rPr lang="es-ES" sz="2800" dirty="0"/>
              <a:t>Base experimental (por verificar)</a:t>
            </a:r>
          </a:p>
          <a:p>
            <a:pPr lvl="1"/>
            <a:r>
              <a:rPr lang="es-ES" sz="2267" dirty="0">
                <a:solidFill>
                  <a:srgbClr val="FF0000"/>
                </a:solidFill>
              </a:rPr>
              <a:t>Que debería decir aquí??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71BAB-4D66-E086-BD7B-FD9D7CA62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05206"/>
            <a:ext cx="3313471" cy="4247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48F71F-A61F-D023-7877-CF8B4BB11FCF}"/>
              </a:ext>
            </a:extLst>
          </p:cNvPr>
          <p:cNvSpPr txBox="1"/>
          <p:nvPr/>
        </p:nvSpPr>
        <p:spPr>
          <a:xfrm>
            <a:off x="6533535" y="5529886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latin typeface="+mn-lt"/>
              </a:rPr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295814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C51D-89A0-22EE-4923-AEC92D4C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Preprocesamiento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2DBC49D-B382-80E9-25EC-B7DC816E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6" y="1167381"/>
            <a:ext cx="7912100" cy="731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8ED83D-5F49-7C0B-1791-2752B7940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7451"/>
            <a:ext cx="5793317" cy="1752600"/>
          </a:xfrm>
          <a:prstGeom prst="rect">
            <a:avLst/>
          </a:prstGeom>
        </p:spPr>
      </p:pic>
      <p:pic>
        <p:nvPicPr>
          <p:cNvPr id="1026" name="Picture 2" descr="The Statistical Whitening Transform | The OG Clever Machine">
            <a:extLst>
              <a:ext uri="{FF2B5EF4-FFF2-40B4-BE49-F238E27FC236}">
                <a16:creationId xmlns:a16="http://schemas.microsoft.com/office/drawing/2014/main" id="{D470DD50-C14B-1673-F3B6-6834F756A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968851"/>
            <a:ext cx="1258429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01E778-1ACD-0D7A-9469-ED9BAF4E9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29" y="4133658"/>
            <a:ext cx="5827239" cy="183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D1C6-B739-33B8-7406-C70265C9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Modelaje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8C652-078B-0985-DC86-646FD1962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>
                    <a:latin typeface="+mn-lt"/>
                  </a:rPr>
                  <a:t>Mezclas de pueden representar como:</a:t>
                </a:r>
              </a:p>
              <a:p>
                <a:pPr marL="0" indent="0">
                  <a:buNone/>
                </a:pPr>
                <a:endParaRPr lang="es-E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ES" dirty="0"/>
                  <a:t> Mezcla </a:t>
                </a:r>
                <a:r>
                  <a:rPr lang="es-ES" b="1" dirty="0"/>
                  <a:t>lineal </a:t>
                </a:r>
                <a:r>
                  <a:rPr lang="es-ES" b="1" dirty="0" err="1"/>
                  <a:t>convolutiva</a:t>
                </a:r>
                <a:endParaRPr lang="es-E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2−10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s-ES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b="0" dirty="0">
                    <a:ea typeface="Cambria Math" panose="02040503050406030204" pitchFamily="18" charset="0"/>
                  </a:rPr>
                  <a:t> </a:t>
                </a:r>
                <a:r>
                  <a:rPr lang="es-ES" sz="2800" b="0" dirty="0">
                    <a:ea typeface="Cambria Math" panose="02040503050406030204" pitchFamily="18" charset="0"/>
                  </a:rPr>
                  <a:t>[6] </a:t>
                </a:r>
              </a:p>
              <a:p>
                <a:r>
                  <a:rPr lang="es-ES" dirty="0"/>
                  <a:t>Discusión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¿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s-ES" b="0" dirty="0"/>
                  <a:t>? </a:t>
                </a:r>
                <a:r>
                  <a:rPr lang="es-ES" dirty="0">
                    <a:solidFill>
                      <a:srgbClr val="FF0000"/>
                    </a:solidFill>
                  </a:rPr>
                  <a:t>(Para el caso en concreto de la prótesis)</a:t>
                </a:r>
                <a:endParaRPr lang="es-ES" b="0" dirty="0"/>
              </a:p>
              <a:p>
                <a:endParaRPr lang="es-ES" b="0" dirty="0"/>
              </a:p>
              <a:p>
                <a:endParaRPr lang="es-ES" b="0" dirty="0"/>
              </a:p>
              <a:p>
                <a:endParaRPr lang="es-E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8C652-078B-0985-DC86-646FD1962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2" t="-2482" r="-1002" b="-271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34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38FC-EB92-585B-D6BC-8650A932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ICA – Independencia estadística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3F112-71E6-FCF9-048C-6AD02020F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1134152"/>
            <a:ext cx="7912188" cy="5161279"/>
          </a:xfrm>
        </p:spPr>
        <p:txBody>
          <a:bodyPr/>
          <a:lstStyle/>
          <a:p>
            <a:r>
              <a:rPr lang="es-ES" dirty="0"/>
              <a:t>Requisitos</a:t>
            </a:r>
          </a:p>
          <a:p>
            <a:pPr lvl="1"/>
            <a:r>
              <a:rPr lang="es-ES" dirty="0"/>
              <a:t>Fuentes relativamente independientes</a:t>
            </a:r>
          </a:p>
          <a:p>
            <a:pPr lvl="1"/>
            <a:r>
              <a:rPr lang="es-ES" dirty="0"/>
              <a:t>Máximo una fuente gaussiana</a:t>
            </a:r>
          </a:p>
          <a:p>
            <a:pPr lvl="1"/>
            <a:r>
              <a:rPr lang="es-ES" dirty="0"/>
              <a:t>Mezcla </a:t>
            </a:r>
            <a:r>
              <a:rPr lang="es-ES" b="1" dirty="0"/>
              <a:t>lineal* </a:t>
            </a:r>
          </a:p>
          <a:p>
            <a:r>
              <a:rPr lang="es-ES" dirty="0"/>
              <a:t>Indeterminaciones:</a:t>
            </a:r>
          </a:p>
          <a:p>
            <a:pPr lvl="1"/>
            <a:r>
              <a:rPr lang="es-ES" dirty="0"/>
              <a:t>Orden de fuentes (Problema de la permutación)</a:t>
            </a:r>
          </a:p>
          <a:p>
            <a:pPr lvl="1"/>
            <a:r>
              <a:rPr lang="es-ES" dirty="0"/>
              <a:t>Escala </a:t>
            </a:r>
          </a:p>
          <a:p>
            <a:pPr lvl="1"/>
            <a:r>
              <a:rPr lang="es-ES" dirty="0"/>
              <a:t>Signo</a:t>
            </a:r>
          </a:p>
          <a:p>
            <a:r>
              <a:rPr lang="es-ES" dirty="0"/>
              <a:t>Algoritmos</a:t>
            </a:r>
          </a:p>
          <a:p>
            <a:pPr lvl="1"/>
            <a:r>
              <a:rPr lang="es-ES" dirty="0"/>
              <a:t>Principalmente </a:t>
            </a:r>
            <a:r>
              <a:rPr lang="es-ES" dirty="0" err="1"/>
              <a:t>FastICA</a:t>
            </a:r>
            <a:endParaRPr lang="es-ES" dirty="0"/>
          </a:p>
          <a:p>
            <a:pPr lvl="1"/>
            <a:r>
              <a:rPr lang="es-ES" dirty="0" err="1"/>
              <a:t>Infomax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533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B289-6A50-E4C9-FC31-F2011360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ICA – Independencia estadística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D2D6D-09AC-B9AC-3668-5DCF1BC9D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3319" y="1097281"/>
                <a:ext cx="3257681" cy="5161279"/>
              </a:xfrm>
            </p:spPr>
            <p:txBody>
              <a:bodyPr/>
              <a:lstStyle/>
              <a:p>
                <a:r>
                  <a:rPr lang="es-ES" dirty="0"/>
                  <a:t>Mejor caso </a:t>
                </a:r>
              </a:p>
              <a:p>
                <a:pPr lvl="1"/>
                <a:r>
                  <a:rPr lang="es-ES" dirty="0"/>
                  <a:t>No ruido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𝑚𝑠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1"/>
                <a:endParaRPr lang="es-ES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D2D6D-09AC-B9AC-3668-5DCF1BC9D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3319" y="1097281"/>
                <a:ext cx="3257681" cy="5161279"/>
              </a:xfrm>
              <a:blipFill>
                <a:blip r:embed="rId3"/>
                <a:stretch>
                  <a:fillRect l="-4299" t="-24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2FA97A7-7E3D-B1D4-8350-48CFF3E7E7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9413" y="1097280"/>
                <a:ext cx="3257681" cy="51612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33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s-ES" dirty="0"/>
                  <a:t> Caso real</a:t>
                </a:r>
              </a:p>
              <a:p>
                <a:pPr lvl="1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𝑟𝑢𝑖𝑑𝑜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dirty="0"/>
              </a:p>
              <a:p>
                <a:pPr lvl="1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≈2−10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𝑚𝑠</m:t>
                    </m:r>
                  </m:oMath>
                </a14:m>
                <a:endParaRPr lang="es-ES" dirty="0">
                  <a:ea typeface="Cambria Math" panose="02040503050406030204" pitchFamily="18" charset="0"/>
                </a:endParaRPr>
              </a:p>
              <a:p>
                <a:pPr lvl="1" fontAlgn="auto">
                  <a:spcAft>
                    <a:spcPts val="0"/>
                  </a:spcAft>
                </a:pPr>
                <a:endParaRPr lang="es-ES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2FA97A7-7E3D-B1D4-8350-48CFF3E7E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13" y="1097280"/>
                <a:ext cx="3257681" cy="5161279"/>
              </a:xfrm>
              <a:prstGeom prst="rect">
                <a:avLst/>
              </a:prstGeom>
              <a:blipFill>
                <a:blip r:embed="rId4"/>
                <a:stretch>
                  <a:fillRect l="-4307" t="-24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6AC97B7-3E88-B31F-88E5-2C1E82663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49" y="2667002"/>
            <a:ext cx="4460018" cy="3591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45568E-B555-DAE9-31F8-D5BA474E66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67001"/>
            <a:ext cx="4460021" cy="359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3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7AE1-4FAA-52DE-0FF8-C2F84634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SOBI – Independencia Temporal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51F0-A15E-B463-6B6A-4BF134DCB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48360"/>
            <a:ext cx="7912188" cy="5161279"/>
          </a:xfrm>
        </p:spPr>
        <p:txBody>
          <a:bodyPr/>
          <a:lstStyle/>
          <a:p>
            <a:r>
              <a:rPr lang="es-ES" dirty="0"/>
              <a:t>Compara autocorrelación</a:t>
            </a:r>
          </a:p>
          <a:p>
            <a:pPr lvl="1"/>
            <a:r>
              <a:rPr lang="es-ES" dirty="0" err="1"/>
              <a:t>Require</a:t>
            </a:r>
            <a:r>
              <a:rPr lang="es-ES" dirty="0"/>
              <a:t> estructuras temporales diferentes</a:t>
            </a:r>
          </a:p>
          <a:p>
            <a:pPr lvl="1"/>
            <a:r>
              <a:rPr lang="es-ES" dirty="0"/>
              <a:t>Diferentes patrones, frecuencia, …</a:t>
            </a:r>
          </a:p>
          <a:p>
            <a:r>
              <a:rPr lang="es-ES" dirty="0"/>
              <a:t>¡Problema! (Base TMR)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EC9E9-633E-8611-655C-0056D9DE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43200"/>
            <a:ext cx="678864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67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EFE7-A9D2-3F3E-B323-0EFF5733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SOBI – Independencia Temporal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A3880-7AD0-F0A2-3D73-A027282D4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905579"/>
            <a:ext cx="8083507" cy="5161279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Caso optimo: Músculos diferentes (</a:t>
            </a:r>
            <a:r>
              <a:rPr lang="es-ES" dirty="0" err="1"/>
              <a:t>Pec</a:t>
            </a:r>
            <a:r>
              <a:rPr lang="es-ES" dirty="0"/>
              <a:t> vs brazo)</a:t>
            </a:r>
          </a:p>
          <a:p>
            <a:pPr lvl="1"/>
            <a:r>
              <a:rPr lang="es-ES" dirty="0"/>
              <a:t>Autocorrelación más diferenciada</a:t>
            </a:r>
          </a:p>
          <a:p>
            <a:pPr lvl="1"/>
            <a:r>
              <a:rPr lang="es-ES" dirty="0" err="1"/>
              <a:t>Duracion</a:t>
            </a:r>
            <a:r>
              <a:rPr lang="es-ES" dirty="0"/>
              <a:t> temporal y frecuencia distinta [6] </a:t>
            </a:r>
          </a:p>
          <a:p>
            <a:pPr marL="0" indent="0">
              <a:buNone/>
            </a:pPr>
            <a:r>
              <a:rPr lang="es-ES" dirty="0"/>
              <a:t>Prueba artificial (</a:t>
            </a:r>
            <a:r>
              <a:rPr lang="es-ES" dirty="0" err="1"/>
              <a:t>ruido+retardo</a:t>
            </a:r>
            <a:r>
              <a:rPr lang="es-ES" dirty="0"/>
              <a:t>) </a:t>
            </a:r>
          </a:p>
          <a:p>
            <a:pPr marL="457189" lvl="1" indent="0">
              <a:buNone/>
            </a:pPr>
            <a:r>
              <a:rPr lang="es-E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EDD51-68B3-D3AC-EE4A-4566051B1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20" y="2895601"/>
            <a:ext cx="652278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8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23BE-4A99-D2CB-1284-6C165355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Separación </a:t>
            </a:r>
            <a:r>
              <a:rPr lang="es-ES" dirty="0" err="1"/>
              <a:t>semi-ciega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D2290-4702-4CF7-EFF7-71B297F6EF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3319" y="1097281"/>
                <a:ext cx="7912188" cy="5591386"/>
              </a:xfrm>
            </p:spPr>
            <p:txBody>
              <a:bodyPr/>
              <a:lstStyle/>
              <a:p>
                <a:r>
                  <a:rPr lang="es-ES" dirty="0"/>
                  <a:t>Idea: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E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ES" sz="28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 sz="28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lim>
                        </m:limLow>
                      </m:fName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𝐼𝑛𝑑𝑒𝑝𝑒𝑛𝑑𝑒𝑛𝑐𝑖𝑎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𝑟𝑒𝑠𝑡𝑟𝑖𝑐𝑐𝑖𝑜𝑛𝑒𝑠</m:t>
                    </m:r>
                  </m:oMath>
                </a14:m>
                <a:r>
                  <a:rPr lang="es-ES" sz="2800" dirty="0"/>
                  <a:t> [7]</a:t>
                </a:r>
              </a:p>
              <a:p>
                <a:r>
                  <a:rPr lang="es-ES" sz="2800" dirty="0"/>
                  <a:t>Posibles restricciones:</a:t>
                </a:r>
              </a:p>
              <a:p>
                <a:pPr lvl="1"/>
                <a:r>
                  <a:rPr lang="es-ES" sz="2267" dirty="0" err="1"/>
                  <a:t>Correlacion</a:t>
                </a:r>
                <a:r>
                  <a:rPr lang="es-ES" sz="2267" dirty="0"/>
                  <a:t> a referencia (actualmente resultados similares)</a:t>
                </a:r>
              </a:p>
              <a:p>
                <a:pPr marL="457189" lvl="1" indent="0">
                  <a:buNone/>
                </a:pPr>
                <a:r>
                  <a:rPr lang="es-ES" sz="2267" dirty="0"/>
                  <a:t> </a:t>
                </a:r>
              </a:p>
              <a:p>
                <a:pPr lvl="1"/>
                <a:r>
                  <a:rPr lang="es-ES" sz="2267" dirty="0" err="1"/>
                  <a:t>Correlacion</a:t>
                </a:r>
                <a:r>
                  <a:rPr lang="es-ES" sz="2267" dirty="0"/>
                  <a:t> y </a:t>
                </a:r>
                <a:r>
                  <a:rPr lang="es-ES" sz="2267" dirty="0" err="1"/>
                  <a:t>Kernel</a:t>
                </a:r>
                <a:r>
                  <a:rPr lang="es-ES" sz="2267" dirty="0"/>
                  <a:t> a referencia [2]</a:t>
                </a:r>
              </a:p>
              <a:p>
                <a:pPr lvl="1"/>
                <a:endParaRPr lang="es-ES" sz="2267" dirty="0"/>
              </a:p>
              <a:p>
                <a:pPr lvl="1"/>
                <a:r>
                  <a:rPr lang="es-ES" sz="2267" dirty="0"/>
                  <a:t>Otro tipo de restricciones (espaciales, fisiológicas…)</a:t>
                </a:r>
              </a:p>
              <a:p>
                <a:r>
                  <a:rPr lang="es-ES" sz="2800" dirty="0"/>
                  <a:t>Integrar información fisiológica podría mejorar la separación.</a:t>
                </a:r>
              </a:p>
              <a:p>
                <a:r>
                  <a:rPr lang="es-ES" sz="2800" dirty="0"/>
                  <a:t>¡OJO! Donde ICA sea óptimo, las restricciones puede que aporten poco</a:t>
                </a:r>
              </a:p>
              <a:p>
                <a:pPr lvl="1"/>
                <a:endParaRPr lang="es-ES" sz="2267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D2290-4702-4CF7-EFF7-71B297F6EF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3319" y="1097281"/>
                <a:ext cx="7912188" cy="5591386"/>
              </a:xfrm>
              <a:blipFill>
                <a:blip r:embed="rId3"/>
                <a:stretch>
                  <a:fillRect l="-1772" t="-2290" r="-246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406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6411-8A33-0629-F682-F403B39EA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C4A06-FAA1-D4F5-77F6-80337885E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591311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3288-C6D9-676C-B685-D80F434C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45355-0BB4-60B0-5B78-CA58D356C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38201"/>
            <a:ext cx="7982082" cy="5515186"/>
          </a:xfrm>
        </p:spPr>
        <p:txBody>
          <a:bodyPr/>
          <a:lstStyle/>
          <a:p>
            <a:r>
              <a:rPr lang="es-ES" dirty="0"/>
              <a:t>Se han reajustado planificación, mayor importancia a separación </a:t>
            </a:r>
            <a:r>
              <a:rPr lang="es-ES" dirty="0" err="1"/>
              <a:t>semi-ciega</a:t>
            </a:r>
            <a:endParaRPr lang="es-ES" dirty="0"/>
          </a:p>
          <a:p>
            <a:r>
              <a:rPr lang="es-ES" dirty="0"/>
              <a:t>Valoraciones</a:t>
            </a:r>
          </a:p>
          <a:p>
            <a:pPr lvl="1"/>
            <a:r>
              <a:rPr lang="es-ES" dirty="0"/>
              <a:t>BSS buena perspectiva para EMG</a:t>
            </a:r>
          </a:p>
          <a:p>
            <a:pPr lvl="1"/>
            <a:r>
              <a:rPr lang="es-ES" dirty="0" err="1"/>
              <a:t>Semi-ciega</a:t>
            </a:r>
            <a:r>
              <a:rPr lang="es-ES" dirty="0"/>
              <a:t> mejor enfoque personalizado</a:t>
            </a:r>
          </a:p>
          <a:p>
            <a:r>
              <a:rPr lang="es-ES" dirty="0"/>
              <a:t>Aspectos técnicos</a:t>
            </a:r>
          </a:p>
          <a:p>
            <a:pPr lvl="1"/>
            <a:r>
              <a:rPr lang="es-ES" dirty="0"/>
              <a:t>Compromiso separación y escala (RMS)</a:t>
            </a:r>
          </a:p>
          <a:p>
            <a:pPr lvl="1"/>
            <a:r>
              <a:rPr lang="es-ES" dirty="0"/>
              <a:t>Naturaleza de EMG factor influyente</a:t>
            </a:r>
          </a:p>
          <a:p>
            <a:pPr lvl="1"/>
            <a:r>
              <a:rPr lang="es-ES" dirty="0"/>
              <a:t>Ruido y matriz de mezclas factores clave</a:t>
            </a:r>
          </a:p>
          <a:p>
            <a:pPr lvl="1"/>
            <a:r>
              <a:rPr lang="es-ES" dirty="0"/>
              <a:t>Incluir información fisiológica promete favorece aquellos casos donde la separación no es trivial</a:t>
            </a:r>
          </a:p>
          <a:p>
            <a:r>
              <a:rPr lang="es-ES" dirty="0"/>
              <a:t>El proyecto cumple con las expectativas</a:t>
            </a:r>
          </a:p>
        </p:txBody>
      </p:sp>
    </p:spTree>
    <p:extLst>
      <p:ext uri="{BB962C8B-B14F-4D97-AF65-F5344CB8AC3E}">
        <p14:creationId xmlns:p14="http://schemas.microsoft.com/office/powerpoint/2010/main" val="221575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FA63-833D-EA05-4CB9-12BD006B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6C6E-CBF9-3424-00E9-C5BFDB8E9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48360"/>
            <a:ext cx="7912188" cy="5161279"/>
          </a:xfrm>
        </p:spPr>
        <p:txBody>
          <a:bodyPr/>
          <a:lstStyle/>
          <a:p>
            <a:pPr marL="0" indent="0">
              <a:buNone/>
            </a:pPr>
            <a:r>
              <a:rPr lang="es-ES" sz="2000" dirty="0"/>
              <a:t>[1] Clifford, MIT, 2008</a:t>
            </a:r>
          </a:p>
          <a:p>
            <a:pPr marL="0" indent="0">
              <a:buNone/>
            </a:pPr>
            <a:r>
              <a:rPr lang="es-ES" sz="2000" dirty="0"/>
              <a:t>[2] M. Chen </a:t>
            </a:r>
            <a:r>
              <a:rPr lang="es-ES" sz="2000" i="1" dirty="0"/>
              <a:t>et al.</a:t>
            </a:r>
            <a:r>
              <a:rPr lang="es-ES" sz="2000" dirty="0"/>
              <a:t>, “2CFastICA: A novel </a:t>
            </a:r>
            <a:r>
              <a:rPr lang="es-ES" sz="2000" dirty="0" err="1"/>
              <a:t>method</a:t>
            </a:r>
            <a:r>
              <a:rPr lang="es-ES" sz="2000" dirty="0"/>
              <a:t> </a:t>
            </a:r>
            <a:r>
              <a:rPr lang="es-ES" sz="2000" dirty="0" err="1"/>
              <a:t>for</a:t>
            </a:r>
            <a:r>
              <a:rPr lang="es-ES" sz="2000" dirty="0"/>
              <a:t> </a:t>
            </a:r>
            <a:r>
              <a:rPr lang="es-ES" sz="2000" dirty="0" err="1"/>
              <a:t>high</a:t>
            </a:r>
            <a:r>
              <a:rPr lang="es-ES" sz="2000" dirty="0"/>
              <a:t> </a:t>
            </a:r>
            <a:r>
              <a:rPr lang="es-ES" sz="2000" dirty="0" err="1"/>
              <a:t>density</a:t>
            </a:r>
            <a:r>
              <a:rPr lang="es-ES" sz="2000" dirty="0"/>
              <a:t> </a:t>
            </a:r>
            <a:r>
              <a:rPr lang="es-ES" sz="2000" dirty="0" err="1"/>
              <a:t>surface</a:t>
            </a:r>
            <a:r>
              <a:rPr lang="es-ES" sz="2000" dirty="0"/>
              <a:t> EMG </a:t>
            </a:r>
            <a:r>
              <a:rPr lang="es-ES" sz="2000" dirty="0" err="1"/>
              <a:t>decomposition</a:t>
            </a:r>
            <a:r>
              <a:rPr lang="es-ES" sz="2000" dirty="0"/>
              <a:t> </a:t>
            </a:r>
            <a:r>
              <a:rPr lang="es-ES" sz="2000" dirty="0" err="1"/>
              <a:t>based</a:t>
            </a:r>
            <a:r>
              <a:rPr lang="es-ES" sz="2000" dirty="0"/>
              <a:t> </a:t>
            </a:r>
            <a:r>
              <a:rPr lang="es-ES" sz="2000" dirty="0" err="1"/>
              <a:t>on</a:t>
            </a:r>
            <a:r>
              <a:rPr lang="es-ES" sz="2000" dirty="0"/>
              <a:t> </a:t>
            </a:r>
            <a:r>
              <a:rPr lang="es-ES" sz="2000" dirty="0" err="1"/>
              <a:t>kernel</a:t>
            </a:r>
            <a:r>
              <a:rPr lang="es-ES" sz="2000" dirty="0"/>
              <a:t> </a:t>
            </a:r>
            <a:r>
              <a:rPr lang="es-ES" sz="2000" dirty="0" err="1"/>
              <a:t>constrained</a:t>
            </a:r>
            <a:r>
              <a:rPr lang="es-ES" sz="2000" dirty="0"/>
              <a:t> </a:t>
            </a:r>
            <a:r>
              <a:rPr lang="es-ES" sz="2000" dirty="0" err="1"/>
              <a:t>FastICA</a:t>
            </a:r>
            <a:r>
              <a:rPr lang="es-ES" sz="2000" dirty="0"/>
              <a:t> and </a:t>
            </a:r>
            <a:r>
              <a:rPr lang="es-ES" sz="2000" dirty="0" err="1"/>
              <a:t>correlation</a:t>
            </a:r>
            <a:r>
              <a:rPr lang="es-ES" sz="2000" dirty="0"/>
              <a:t> </a:t>
            </a:r>
            <a:r>
              <a:rPr lang="es-ES" sz="2000" dirty="0" err="1"/>
              <a:t>constrained</a:t>
            </a:r>
            <a:r>
              <a:rPr lang="es-ES" sz="2000" dirty="0"/>
              <a:t> </a:t>
            </a:r>
            <a:r>
              <a:rPr lang="es-ES" sz="2000" dirty="0" err="1"/>
              <a:t>FastICA</a:t>
            </a:r>
            <a:r>
              <a:rPr lang="es-ES" sz="2000" dirty="0"/>
              <a:t>,” </a:t>
            </a:r>
            <a:r>
              <a:rPr lang="es-ES" sz="2000" i="1" dirty="0"/>
              <a:t>IEEE Trans. Neural </a:t>
            </a:r>
            <a:r>
              <a:rPr lang="es-ES" sz="2000" i="1" dirty="0" err="1"/>
              <a:t>Syst</a:t>
            </a:r>
            <a:r>
              <a:rPr lang="es-ES" sz="2000" i="1" dirty="0"/>
              <a:t>. </a:t>
            </a:r>
            <a:r>
              <a:rPr lang="es-ES" sz="2000" i="1" dirty="0" err="1"/>
              <a:t>Rehabil</a:t>
            </a:r>
            <a:r>
              <a:rPr lang="es-ES" sz="2000" i="1" dirty="0"/>
              <a:t>. Eng.</a:t>
            </a:r>
            <a:r>
              <a:rPr lang="es-ES" sz="2000" dirty="0"/>
              <a:t>, 2024</a:t>
            </a:r>
          </a:p>
          <a:p>
            <a:pPr marL="0" indent="0">
              <a:buNone/>
            </a:pPr>
            <a:r>
              <a:rPr lang="es-ES" sz="2000" dirty="0"/>
              <a:t>[3]</a:t>
            </a:r>
            <a:r>
              <a:rPr lang="en-US" sz="2000" dirty="0"/>
              <a:t> T.-P. Jung et al., “Extended ICA removes artifacts from electroencephalographic recordings,” NIPS, 1998.</a:t>
            </a:r>
          </a:p>
          <a:p>
            <a:pPr marL="0" indent="0">
              <a:buNone/>
            </a:pPr>
            <a:r>
              <a:rPr lang="en-US" sz="2000" dirty="0"/>
              <a:t>[4]</a:t>
            </a:r>
            <a:r>
              <a:rPr lang="es-ES" sz="2000" dirty="0"/>
              <a:t> K. D. </a:t>
            </a:r>
            <a:r>
              <a:rPr lang="es-ES" sz="2000" dirty="0" err="1"/>
              <a:t>Bergmeister</a:t>
            </a:r>
            <a:r>
              <a:rPr lang="es-ES" sz="2000" dirty="0"/>
              <a:t> </a:t>
            </a:r>
            <a:r>
              <a:rPr lang="es-ES" sz="2000" i="1" dirty="0"/>
              <a:t>et al.</a:t>
            </a:r>
            <a:r>
              <a:rPr lang="es-ES" sz="2000" dirty="0"/>
              <a:t>, “</a:t>
            </a:r>
            <a:r>
              <a:rPr lang="es-ES" sz="2000" dirty="0" err="1"/>
              <a:t>Broadband</a:t>
            </a:r>
            <a:r>
              <a:rPr lang="es-ES" sz="2000" dirty="0"/>
              <a:t> </a:t>
            </a:r>
            <a:r>
              <a:rPr lang="es-ES" sz="2000" dirty="0" err="1"/>
              <a:t>prosthetic</a:t>
            </a:r>
            <a:r>
              <a:rPr lang="es-ES" sz="2000" dirty="0"/>
              <a:t> interfaces: </a:t>
            </a:r>
            <a:r>
              <a:rPr lang="es-ES" sz="2000" dirty="0" err="1"/>
              <a:t>Combining</a:t>
            </a:r>
            <a:r>
              <a:rPr lang="es-ES" sz="2000" dirty="0"/>
              <a:t> </a:t>
            </a:r>
            <a:r>
              <a:rPr lang="es-ES" sz="2000" dirty="0" err="1"/>
              <a:t>nerve</a:t>
            </a:r>
            <a:r>
              <a:rPr lang="es-ES" sz="2000" dirty="0"/>
              <a:t> </a:t>
            </a:r>
            <a:r>
              <a:rPr lang="es-ES" sz="2000" dirty="0" err="1"/>
              <a:t>transfers</a:t>
            </a:r>
            <a:r>
              <a:rPr lang="es-ES" sz="2000" dirty="0"/>
              <a:t> and implantable </a:t>
            </a:r>
            <a:r>
              <a:rPr lang="es-ES" sz="2000" dirty="0" err="1"/>
              <a:t>multichannel</a:t>
            </a:r>
            <a:r>
              <a:rPr lang="es-ES" sz="2000" dirty="0"/>
              <a:t> EMG </a:t>
            </a:r>
            <a:r>
              <a:rPr lang="es-ES" sz="2000" dirty="0" err="1"/>
              <a:t>technology</a:t>
            </a:r>
            <a:r>
              <a:rPr lang="es-ES" sz="2000" dirty="0"/>
              <a:t> </a:t>
            </a:r>
            <a:r>
              <a:rPr lang="es-ES" sz="2000" dirty="0" err="1"/>
              <a:t>to</a:t>
            </a:r>
            <a:r>
              <a:rPr lang="es-ES" sz="2000" dirty="0"/>
              <a:t> </a:t>
            </a:r>
            <a:r>
              <a:rPr lang="es-ES" sz="2000" dirty="0" err="1"/>
              <a:t>decode</a:t>
            </a:r>
            <a:r>
              <a:rPr lang="es-ES" sz="2000" dirty="0"/>
              <a:t> </a:t>
            </a:r>
            <a:r>
              <a:rPr lang="es-ES" sz="2000" dirty="0" err="1"/>
              <a:t>spinal</a:t>
            </a:r>
            <a:r>
              <a:rPr lang="es-ES" sz="2000" dirty="0"/>
              <a:t> motor </a:t>
            </a:r>
            <a:r>
              <a:rPr lang="es-ES" sz="2000" dirty="0" err="1"/>
              <a:t>neuron</a:t>
            </a:r>
            <a:r>
              <a:rPr lang="es-ES" sz="2000" dirty="0"/>
              <a:t> </a:t>
            </a:r>
            <a:r>
              <a:rPr lang="es-ES" sz="2000" dirty="0" err="1"/>
              <a:t>activity</a:t>
            </a:r>
            <a:r>
              <a:rPr lang="es-ES" sz="2000" dirty="0"/>
              <a:t>,” </a:t>
            </a:r>
            <a:r>
              <a:rPr lang="es-ES" sz="2000" i="1" dirty="0"/>
              <a:t>Front. </a:t>
            </a:r>
            <a:r>
              <a:rPr lang="es-ES" sz="2000" i="1" dirty="0" err="1"/>
              <a:t>Neurosci</a:t>
            </a:r>
            <a:r>
              <a:rPr lang="es-ES" sz="2000" i="1" dirty="0"/>
              <a:t>.</a:t>
            </a:r>
            <a:r>
              <a:rPr lang="es-ES" sz="2000" dirty="0"/>
              <a:t>, vol. 11, 2017</a:t>
            </a:r>
          </a:p>
          <a:p>
            <a:pPr marL="0" indent="0">
              <a:buNone/>
            </a:pPr>
            <a:r>
              <a:rPr lang="en-US" sz="2000" dirty="0"/>
              <a:t>[5]</a:t>
            </a:r>
            <a:r>
              <a:rPr lang="es-ES" sz="2000" dirty="0"/>
              <a:t> S. M. </a:t>
            </a:r>
            <a:r>
              <a:rPr lang="es-ES" sz="2000" dirty="0" err="1"/>
              <a:t>Simon</a:t>
            </a:r>
            <a:r>
              <a:rPr lang="es-ES" sz="2000" dirty="0"/>
              <a:t> </a:t>
            </a:r>
            <a:r>
              <a:rPr lang="es-ES" sz="2000" i="1" dirty="0"/>
              <a:t>et al.</a:t>
            </a:r>
            <a:r>
              <a:rPr lang="es-ES" sz="2000" dirty="0"/>
              <a:t>, “</a:t>
            </a:r>
            <a:r>
              <a:rPr lang="es-ES" sz="2000" dirty="0" err="1"/>
              <a:t>Myoelectric</a:t>
            </a:r>
            <a:r>
              <a:rPr lang="es-ES" sz="2000" dirty="0"/>
              <a:t> </a:t>
            </a:r>
            <a:r>
              <a:rPr lang="es-ES" sz="2000" dirty="0" err="1"/>
              <a:t>prosthesis</a:t>
            </a:r>
            <a:r>
              <a:rPr lang="es-ES" sz="2000" dirty="0"/>
              <a:t> </a:t>
            </a:r>
            <a:r>
              <a:rPr lang="es-ES" sz="2000" dirty="0" err="1"/>
              <a:t>hand</a:t>
            </a:r>
            <a:r>
              <a:rPr lang="es-ES" sz="2000" dirty="0"/>
              <a:t> </a:t>
            </a:r>
            <a:r>
              <a:rPr lang="es-ES" sz="2000" dirty="0" err="1"/>
              <a:t>grasp</a:t>
            </a:r>
            <a:r>
              <a:rPr lang="es-ES" sz="2000" dirty="0"/>
              <a:t> control </a:t>
            </a:r>
            <a:r>
              <a:rPr lang="es-ES" sz="2000" dirty="0" err="1"/>
              <a:t>following</a:t>
            </a:r>
            <a:r>
              <a:rPr lang="es-ES" sz="2000" dirty="0"/>
              <a:t> </a:t>
            </a:r>
            <a:r>
              <a:rPr lang="es-ES" sz="2000" dirty="0" err="1"/>
              <a:t>targeted</a:t>
            </a:r>
            <a:r>
              <a:rPr lang="es-ES" sz="2000" dirty="0"/>
              <a:t> </a:t>
            </a:r>
            <a:r>
              <a:rPr lang="es-ES" sz="2000" dirty="0" err="1"/>
              <a:t>muscle</a:t>
            </a:r>
            <a:r>
              <a:rPr lang="es-ES" sz="2000" dirty="0"/>
              <a:t> </a:t>
            </a:r>
            <a:r>
              <a:rPr lang="es-ES" sz="2000" dirty="0" err="1"/>
              <a:t>reinnervation</a:t>
            </a:r>
            <a:r>
              <a:rPr lang="es-ES" sz="2000" dirty="0"/>
              <a:t> in </a:t>
            </a:r>
            <a:r>
              <a:rPr lang="es-ES" sz="2000" dirty="0" err="1"/>
              <a:t>individuals</a:t>
            </a:r>
            <a:r>
              <a:rPr lang="es-ES" sz="2000" dirty="0"/>
              <a:t> </a:t>
            </a:r>
            <a:r>
              <a:rPr lang="es-ES" sz="2000" dirty="0" err="1"/>
              <a:t>with</a:t>
            </a:r>
            <a:r>
              <a:rPr lang="es-ES" sz="2000" dirty="0"/>
              <a:t> </a:t>
            </a:r>
            <a:r>
              <a:rPr lang="es-ES" sz="2000" dirty="0" err="1"/>
              <a:t>transradial</a:t>
            </a:r>
            <a:r>
              <a:rPr lang="es-ES" sz="2000" dirty="0"/>
              <a:t> </a:t>
            </a:r>
            <a:r>
              <a:rPr lang="es-ES" sz="2000" dirty="0" err="1"/>
              <a:t>amputation</a:t>
            </a:r>
            <a:r>
              <a:rPr lang="es-ES" sz="2000" dirty="0"/>
              <a:t>,” </a:t>
            </a:r>
            <a:r>
              <a:rPr lang="es-ES" sz="2000" i="1" dirty="0" err="1"/>
              <a:t>PLoS</a:t>
            </a:r>
            <a:r>
              <a:rPr lang="es-ES" sz="2000" i="1" dirty="0"/>
              <a:t> </a:t>
            </a:r>
            <a:r>
              <a:rPr lang="es-ES" sz="2000" i="1" dirty="0" err="1"/>
              <a:t>One</a:t>
            </a:r>
            <a:r>
              <a:rPr lang="es-ES" sz="2000" dirty="0"/>
              <a:t>, 2023</a:t>
            </a:r>
          </a:p>
          <a:p>
            <a:pPr marL="0" indent="0">
              <a:buNone/>
            </a:pPr>
            <a:r>
              <a:rPr lang="es-ES" sz="2000" dirty="0"/>
              <a:t>[6] S. </a:t>
            </a:r>
            <a:r>
              <a:rPr lang="es-ES" sz="2000" dirty="0" err="1"/>
              <a:t>Muceli</a:t>
            </a:r>
            <a:r>
              <a:rPr lang="es-ES" sz="2000" dirty="0"/>
              <a:t> y R. </a:t>
            </a:r>
            <a:r>
              <a:rPr lang="es-ES" sz="2000" dirty="0" err="1"/>
              <a:t>Merletti</a:t>
            </a:r>
            <a:r>
              <a:rPr lang="es-ES" sz="2000" dirty="0"/>
              <a:t>, «Tutorial. </a:t>
            </a:r>
            <a:r>
              <a:rPr lang="es-ES" sz="2000" dirty="0" err="1"/>
              <a:t>Frequency</a:t>
            </a:r>
            <a:r>
              <a:rPr lang="es-ES" sz="2000" dirty="0"/>
              <a:t> </a:t>
            </a:r>
            <a:r>
              <a:rPr lang="es-ES" sz="2000" dirty="0" err="1"/>
              <a:t>analysis</a:t>
            </a:r>
            <a:r>
              <a:rPr lang="es-ES" sz="2000" dirty="0"/>
              <a:t> </a:t>
            </a:r>
            <a:r>
              <a:rPr lang="es-ES" sz="2000" dirty="0" err="1"/>
              <a:t>of</a:t>
            </a:r>
            <a:r>
              <a:rPr lang="es-ES" sz="2000" dirty="0"/>
              <a:t> </a:t>
            </a:r>
            <a:r>
              <a:rPr lang="es-ES" sz="2000" dirty="0" err="1"/>
              <a:t>the</a:t>
            </a:r>
            <a:r>
              <a:rPr lang="es-ES" sz="2000" dirty="0"/>
              <a:t> </a:t>
            </a:r>
            <a:r>
              <a:rPr lang="es-ES" sz="2000" dirty="0" err="1"/>
              <a:t>surface</a:t>
            </a:r>
            <a:r>
              <a:rPr lang="es-ES" sz="2000" dirty="0"/>
              <a:t> EMG </a:t>
            </a:r>
            <a:r>
              <a:rPr lang="es-ES" sz="2000" dirty="0" err="1"/>
              <a:t>signal</a:t>
            </a:r>
            <a:r>
              <a:rPr lang="es-ES" sz="2000" dirty="0"/>
              <a:t>: </a:t>
            </a:r>
            <a:r>
              <a:rPr lang="es-ES" sz="2000" dirty="0" err="1"/>
              <a:t>Best</a:t>
            </a:r>
            <a:r>
              <a:rPr lang="es-ES" sz="2000" dirty="0"/>
              <a:t> </a:t>
            </a:r>
            <a:r>
              <a:rPr lang="es-ES" sz="2000" dirty="0" err="1"/>
              <a:t>practices</a:t>
            </a:r>
            <a:r>
              <a:rPr lang="es-ES" sz="2000" dirty="0"/>
              <a:t>», </a:t>
            </a:r>
            <a:r>
              <a:rPr lang="es-ES" sz="2000" i="1" dirty="0" err="1"/>
              <a:t>Journal</a:t>
            </a:r>
            <a:r>
              <a:rPr lang="es-ES" sz="2000" i="1" dirty="0"/>
              <a:t> </a:t>
            </a:r>
            <a:r>
              <a:rPr lang="es-ES" sz="2000" i="1" dirty="0" err="1"/>
              <a:t>of</a:t>
            </a:r>
            <a:r>
              <a:rPr lang="es-ES" sz="2000" i="1" dirty="0"/>
              <a:t> </a:t>
            </a:r>
            <a:r>
              <a:rPr lang="es-ES" sz="2000" i="1" dirty="0" err="1"/>
              <a:t>Electromyography</a:t>
            </a:r>
            <a:r>
              <a:rPr lang="es-ES" sz="2000" i="1" dirty="0"/>
              <a:t> and </a:t>
            </a:r>
            <a:r>
              <a:rPr lang="es-ES" sz="2000" i="1" dirty="0" err="1"/>
              <a:t>Kinesiology</a:t>
            </a:r>
            <a:r>
              <a:rPr lang="es-ES" sz="2000" dirty="0"/>
              <a:t>, vol. 79, p. 102937, dic. 2024</a:t>
            </a:r>
          </a:p>
          <a:p>
            <a:pPr marL="0" indent="0">
              <a:buNone/>
            </a:pPr>
            <a:r>
              <a:rPr lang="es-ES" sz="2000" dirty="0"/>
              <a:t>[7] </a:t>
            </a:r>
            <a:r>
              <a:rPr lang="en-US" sz="2000" dirty="0"/>
              <a:t>G. R. Naik and W. Wang, Eds., </a:t>
            </a:r>
            <a:r>
              <a:rPr lang="en-US" sz="2000" i="1" dirty="0"/>
              <a:t>Blind Source Separation: Advances in Theory, Algorithms and Applications</a:t>
            </a:r>
            <a:r>
              <a:rPr lang="en-US" sz="2000" dirty="0"/>
              <a:t>. Springer, 2014.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796282418"/>
      </p:ext>
    </p:extLst>
  </p:cSld>
  <p:clrMapOvr>
    <a:masterClrMapping/>
  </p:clrMapOvr>
</p:sld>
</file>

<file path=ppt/theme/theme1.xml><?xml version="1.0" encoding="utf-8"?>
<a:theme xmlns:a="http://schemas.openxmlformats.org/drawingml/2006/main" name="AnalisisPreliminarII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tron ICAI" id="{FE90A36C-7B08-4C56-A16B-46D85B16C124}" vid="{2DA1B88E-F612-417B-BAC2-700C90BC7A0B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B3B16D-F639-41AF-AA8C-4966FE5B3B79}">
  <we:reference id="4b785c87-866c-4bad-85d8-5d1ae467ac9a" version="3.22.0.0" store="EXCatalog" storeType="EXCatalog"/>
  <we:alternateReferences>
    <we:reference id="WA104381909" version="3.22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73b59b-cf87-4178-920d-e34fedb7f7f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EFD502BE8E5A4798A71439EDA09753" ma:contentTypeVersion="13" ma:contentTypeDescription="Crear nuevo documento." ma:contentTypeScope="" ma:versionID="b6a1abe343dfb6854d375504dac41ca8">
  <xsd:schema xmlns:xsd="http://www.w3.org/2001/XMLSchema" xmlns:xs="http://www.w3.org/2001/XMLSchema" xmlns:p="http://schemas.microsoft.com/office/2006/metadata/properties" xmlns:ns3="cc73b59b-cf87-4178-920d-e34fedb7f7f1" xmlns:ns4="58835b10-8590-44e8-a510-9959c5631a94" targetNamespace="http://schemas.microsoft.com/office/2006/metadata/properties" ma:root="true" ma:fieldsID="6837603b397ff871b4cf08d57de13915" ns3:_="" ns4:_="">
    <xsd:import namespace="cc73b59b-cf87-4178-920d-e34fedb7f7f1"/>
    <xsd:import namespace="58835b10-8590-44e8-a510-9959c5631a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3b59b-cf87-4178-920d-e34fedb7f7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835b10-8590-44e8-a510-9959c5631a9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5C06F2-6811-4915-8A08-5BDC663684E5}">
  <ds:schemaRefs>
    <ds:schemaRef ds:uri="http://purl.org/dc/elements/1.1/"/>
    <ds:schemaRef ds:uri="http://purl.org/dc/terms/"/>
    <ds:schemaRef ds:uri="http://schemas.openxmlformats.org/package/2006/metadata/core-properties"/>
    <ds:schemaRef ds:uri="58835b10-8590-44e8-a510-9959c5631a94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cc73b59b-cf87-4178-920d-e34fedb7f7f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F695B4F-A284-40CE-A208-D76DF56525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83789E-DF08-4CEB-9B28-6BDBE6CD1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73b59b-cf87-4178-920d-e34fedb7f7f1"/>
    <ds:schemaRef ds:uri="58835b10-8590-44e8-a510-9959c5631a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cd2701c-aa9b-4d12-ba20-f3e3b83070c1}" enabled="0" method="" siteId="{bcd2701c-aa9b-4d12-ba20-f3e3b83070c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patron ICAI</Template>
  <TotalTime>9748</TotalTime>
  <Words>999</Words>
  <Application>Microsoft Office PowerPoint</Application>
  <PresentationFormat>On-screen Show (4:3)</PresentationFormat>
  <Paragraphs>179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Optima</vt:lpstr>
      <vt:lpstr>Wingdings</vt:lpstr>
      <vt:lpstr>AnalisisPreliminarIIT</vt:lpstr>
      <vt:lpstr>Trabajo Fin de Grado Separación de señales electromiográficas</vt:lpstr>
      <vt:lpstr>Índice de la presentación</vt:lpstr>
      <vt:lpstr>1</vt:lpstr>
      <vt:lpstr>Separación de fuentes - Telecomunicaciones </vt:lpstr>
      <vt:lpstr>Contexto y Estado del Arte</vt:lpstr>
      <vt:lpstr>Motivación : Reinervación muscular</vt:lpstr>
      <vt:lpstr>Objetivos</vt:lpstr>
      <vt:lpstr>2</vt:lpstr>
      <vt:lpstr>Planificación vs Estado Actual</vt:lpstr>
      <vt:lpstr>3</vt:lpstr>
      <vt:lpstr>Bases de datos </vt:lpstr>
      <vt:lpstr>Preprocesamiento</vt:lpstr>
      <vt:lpstr>Modelaje</vt:lpstr>
      <vt:lpstr>ICA – Independencia estadística</vt:lpstr>
      <vt:lpstr>ICA – Independencia estadística</vt:lpstr>
      <vt:lpstr>SOBI – Independencia Temporal</vt:lpstr>
      <vt:lpstr>SOBI – Independencia Temporal</vt:lpstr>
      <vt:lpstr>Separación semi-ciega</vt:lpstr>
      <vt:lpstr>4</vt:lpstr>
      <vt:lpstr>Conclusiones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Antón Cobian Iregui</dc:creator>
  <cp:keywords>transformadores</cp:keywords>
  <cp:lastModifiedBy>Antón Cobian Iregui</cp:lastModifiedBy>
  <cp:revision>5</cp:revision>
  <cp:lastPrinted>2014-09-02T23:13:43Z</cp:lastPrinted>
  <dcterms:created xsi:type="dcterms:W3CDTF">2026-01-30T22:41:14Z</dcterms:created>
  <dcterms:modified xsi:type="dcterms:W3CDTF">2026-03-24T02:24:10Z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0x01010096EFD502BE8E5A4798A71439EDA09753</vt:lpwstr>
  </property>
</Properties>
</file>