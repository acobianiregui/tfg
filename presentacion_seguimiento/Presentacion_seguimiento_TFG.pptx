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4" r:id="rId4"/>
  </p:sldMasterIdLst>
  <p:notesMasterIdLst>
    <p:notesMasterId r:id="rId27"/>
  </p:notesMasterIdLst>
  <p:handoutMasterIdLst>
    <p:handoutMasterId r:id="rId28"/>
  </p:handoutMasterIdLst>
  <p:sldIdLst>
    <p:sldId id="257" r:id="rId5"/>
    <p:sldId id="346" r:id="rId6"/>
    <p:sldId id="274" r:id="rId7"/>
    <p:sldId id="361" r:id="rId8"/>
    <p:sldId id="362" r:id="rId9"/>
    <p:sldId id="363" r:id="rId10"/>
    <p:sldId id="364" r:id="rId11"/>
    <p:sldId id="365" r:id="rId12"/>
    <p:sldId id="372" r:id="rId13"/>
    <p:sldId id="369" r:id="rId14"/>
    <p:sldId id="366" r:id="rId15"/>
    <p:sldId id="367" r:id="rId16"/>
    <p:sldId id="376" r:id="rId17"/>
    <p:sldId id="368" r:id="rId18"/>
    <p:sldId id="377" r:id="rId19"/>
    <p:sldId id="374" r:id="rId20"/>
    <p:sldId id="378" r:id="rId21"/>
    <p:sldId id="375" r:id="rId22"/>
    <p:sldId id="370" r:id="rId23"/>
    <p:sldId id="373" r:id="rId24"/>
    <p:sldId id="371" r:id="rId25"/>
    <p:sldId id="379" r:id="rId26"/>
  </p:sldIdLst>
  <p:sldSz cx="9144000" cy="6858000" type="screen4x3"/>
  <p:notesSz cx="7099300" cy="10234613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tima" panose="02000503060000020004" pitchFamily="2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tima" panose="02000503060000020004" pitchFamily="2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tima" panose="02000503060000020004" pitchFamily="2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tima" panose="02000503060000020004" pitchFamily="2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tima" panose="02000503060000020004" pitchFamily="2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Optima" panose="02000503060000020004" pitchFamily="2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Optima" panose="02000503060000020004" pitchFamily="2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Optima" panose="02000503060000020004" pitchFamily="2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Optima" panose="02000503060000020004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3E83"/>
    <a:srgbClr val="EFAD00"/>
    <a:srgbClr val="FFFF99"/>
    <a:srgbClr val="FF66CC"/>
    <a:srgbClr val="FFD08B"/>
    <a:srgbClr val="FFCCCC"/>
    <a:srgbClr val="966B00"/>
    <a:srgbClr val="993300"/>
    <a:srgbClr val="CB9025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211697-E92E-4975-8F8A-88F806DA4C61}" v="432" dt="2026-04-07T03:33:14.3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02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224"/>
        <p:guide pos="223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4744" tIns="47373" rIns="94744" bIns="47373" rtlCol="0"/>
          <a:lstStyle>
            <a:lvl1pPr algn="l" eaLnBrk="1" hangingPunct="1">
              <a:defRPr sz="13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4744" tIns="47373" rIns="94744" bIns="47373" rtlCol="0"/>
          <a:lstStyle>
            <a:lvl1pPr algn="r" eaLnBrk="1" hangingPunct="1">
              <a:defRPr sz="1300"/>
            </a:lvl1pPr>
          </a:lstStyle>
          <a:p>
            <a:pPr>
              <a:defRPr/>
            </a:pPr>
            <a:fld id="{1A515755-6431-42CE-89F6-20D8220FD509}" type="datetimeFigureOut">
              <a:rPr lang="es-ES"/>
              <a:pPr>
                <a:defRPr/>
              </a:pPr>
              <a:t>06/04/2026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9720263"/>
            <a:ext cx="3076575" cy="512762"/>
          </a:xfrm>
          <a:prstGeom prst="rect">
            <a:avLst/>
          </a:prstGeom>
        </p:spPr>
        <p:txBody>
          <a:bodyPr vert="horz" lIns="94744" tIns="47373" rIns="94744" bIns="47373" rtlCol="0" anchor="b"/>
          <a:lstStyle>
            <a:lvl1pPr algn="l" eaLnBrk="1" hangingPunct="1">
              <a:defRPr sz="13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4021138" y="9720263"/>
            <a:ext cx="3076575" cy="512762"/>
          </a:xfrm>
          <a:prstGeom prst="rect">
            <a:avLst/>
          </a:prstGeom>
        </p:spPr>
        <p:txBody>
          <a:bodyPr vert="horz" lIns="94744" tIns="47373" rIns="94744" bIns="47373" rtlCol="0" anchor="b"/>
          <a:lstStyle>
            <a:lvl1pPr algn="r" eaLnBrk="1" hangingPunct="1">
              <a:defRPr sz="1300"/>
            </a:lvl1pPr>
          </a:lstStyle>
          <a:p>
            <a:pPr>
              <a:defRPr/>
            </a:pPr>
            <a:fld id="{C605E106-BB67-4C79-A57B-4DFD06C21271}" type="slidenum">
              <a:rPr lang="es-ES"/>
              <a:pPr>
                <a:defRPr/>
              </a:pPr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451570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12" tIns="49508" rIns="99012" bIns="49508" numCol="1" anchor="t" anchorCtr="0" compatLnSpc="1">
            <a:prstTxWarp prst="textNoShape">
              <a:avLst/>
            </a:prstTxWarp>
          </a:bodyPr>
          <a:lstStyle>
            <a:lvl1pPr algn="l" defTabSz="990246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12" tIns="49508" rIns="99012" bIns="49508" numCol="1" anchor="t" anchorCtr="0" compatLnSpc="1">
            <a:prstTxWarp prst="textNoShape">
              <a:avLst/>
            </a:prstTxWarp>
          </a:bodyPr>
          <a:lstStyle>
            <a:lvl1pPr algn="r" defTabSz="990246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3775" y="769938"/>
            <a:ext cx="5111750" cy="3835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12" tIns="49508" rIns="99012" bIns="4950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12" tIns="49508" rIns="99012" bIns="49508" numCol="1" anchor="b" anchorCtr="0" compatLnSpc="1">
            <a:prstTxWarp prst="textNoShape">
              <a:avLst/>
            </a:prstTxWarp>
          </a:bodyPr>
          <a:lstStyle>
            <a:lvl1pPr algn="l" defTabSz="990246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12" tIns="49508" rIns="99012" bIns="49508" numCol="1" anchor="b" anchorCtr="0" compatLnSpc="1">
            <a:prstTxWarp prst="textNoShape">
              <a:avLst/>
            </a:prstTxWarp>
          </a:bodyPr>
          <a:lstStyle>
            <a:lvl1pPr algn="r" defTabSz="990246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fld id="{1035D325-021E-4272-9CEB-D44F6117877C}" type="slidenum">
              <a:rPr lang="es-ES"/>
              <a:pPr>
                <a:defRPr/>
              </a:pPr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5118767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7425">
              <a:defRPr>
                <a:solidFill>
                  <a:schemeClr val="tx1"/>
                </a:solidFill>
                <a:latin typeface="Optima" panose="02000503060000020004" pitchFamily="2" charset="0"/>
              </a:defRPr>
            </a:lvl1pPr>
            <a:lvl2pPr marL="742950" indent="-285750" defTabSz="987425">
              <a:defRPr>
                <a:solidFill>
                  <a:schemeClr val="tx1"/>
                </a:solidFill>
                <a:latin typeface="Optima" panose="02000503060000020004" pitchFamily="2" charset="0"/>
              </a:defRPr>
            </a:lvl2pPr>
            <a:lvl3pPr marL="1143000" indent="-228600" defTabSz="987425">
              <a:defRPr>
                <a:solidFill>
                  <a:schemeClr val="tx1"/>
                </a:solidFill>
                <a:latin typeface="Optima" panose="02000503060000020004" pitchFamily="2" charset="0"/>
              </a:defRPr>
            </a:lvl3pPr>
            <a:lvl4pPr marL="1600200" indent="-228600" defTabSz="987425">
              <a:defRPr>
                <a:solidFill>
                  <a:schemeClr val="tx1"/>
                </a:solidFill>
                <a:latin typeface="Optima" panose="02000503060000020004" pitchFamily="2" charset="0"/>
              </a:defRPr>
            </a:lvl4pPr>
            <a:lvl5pPr marL="2057400" indent="-228600" defTabSz="987425">
              <a:defRPr>
                <a:solidFill>
                  <a:schemeClr val="tx1"/>
                </a:solidFill>
                <a:latin typeface="Optima" panose="02000503060000020004" pitchFamily="2" charset="0"/>
              </a:defRPr>
            </a:lvl5pPr>
            <a:lvl6pPr marL="25146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tima" panose="02000503060000020004" pitchFamily="2" charset="0"/>
              </a:defRPr>
            </a:lvl6pPr>
            <a:lvl7pPr marL="29718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tima" panose="02000503060000020004" pitchFamily="2" charset="0"/>
              </a:defRPr>
            </a:lvl7pPr>
            <a:lvl8pPr marL="34290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tima" panose="02000503060000020004" pitchFamily="2" charset="0"/>
              </a:defRPr>
            </a:lvl8pPr>
            <a:lvl9pPr marL="3886200" indent="-228600" defTabSz="987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tima" panose="02000503060000020004" pitchFamily="2" charset="0"/>
              </a:defRPr>
            </a:lvl9pPr>
          </a:lstStyle>
          <a:p>
            <a:fld id="{72C0D603-B88F-41B1-B11B-E6E60CA1AF32}" type="slidenum">
              <a:rPr lang="es-ES" altLang="es-ES" smtClean="0">
                <a:latin typeface="Arial" panose="020B0604020202020204" pitchFamily="34" charset="0"/>
              </a:rPr>
              <a:pPr/>
              <a:t>1</a:t>
            </a:fld>
            <a:endParaRPr lang="es-ES" altLang="es-ES">
              <a:latin typeface="Arial" panose="020B0604020202020204" pitchFamily="34" charset="0"/>
            </a:endParaRPr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5175"/>
            <a:ext cx="5118100" cy="3840163"/>
          </a:xfrm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85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_tradnl" altLang="es-E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03772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35D325-021E-4272-9CEB-D44F6117877C}" type="slidenum">
              <a:rPr lang="es-ES" smtClean="0"/>
              <a:pPr>
                <a:defRPr/>
              </a:pPr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783046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35D325-021E-4272-9CEB-D44F6117877C}" type="slidenum">
              <a:rPr lang="es-ES" smtClean="0"/>
              <a:pPr>
                <a:defRPr/>
              </a:pPr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81225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hemos visto que en animales grandes los RPNI tienden a "morirse" en pocas semanas. IDEA CLAVE VASCULIZAR PARA QUE NO SE MUERA</a:t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35D325-021E-4272-9CEB-D44F6117877C}" type="slidenum">
              <a:rPr lang="es-ES" smtClean="0"/>
              <a:pPr>
                <a:defRPr/>
              </a:pPr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16533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Explicar aquí cada objetivo y hacer hincapié en el tema de online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35D325-021E-4272-9CEB-D44F6117877C}" type="slidenum">
              <a:rPr lang="es-ES" smtClean="0"/>
              <a:pPr>
                <a:defRPr/>
              </a:pPr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53585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Admitir que la estimación de tanto separación ciega como temporal es desproporcional frente al semi-ciega. Adicionalmente, me gustaría </a:t>
            </a:r>
            <a:r>
              <a:rPr lang="es-ES" err="1"/>
              <a:t>tambien</a:t>
            </a:r>
            <a:r>
              <a:rPr lang="es-ES"/>
              <a:t> plantear una versión </a:t>
            </a:r>
            <a:r>
              <a:rPr lang="es-ES" err="1"/>
              <a:t>convolutiva</a:t>
            </a:r>
            <a:r>
              <a:rPr lang="es-ES"/>
              <a:t> de ICA (en tiempo-frecuencia) a lo wavelet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35D325-021E-4272-9CEB-D44F6117877C}" type="slidenum">
              <a:rPr lang="es-ES" smtClean="0"/>
              <a:pPr>
                <a:defRPr/>
              </a:pPr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475344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TMR no es el mismo proceso que plantea Romano, pero permite al menos entender comportamientos similares en el EMG a los que se vería</a:t>
            </a:r>
            <a:br>
              <a:rPr lang="es-ES"/>
            </a:br>
            <a:r>
              <a:rPr lang="es-ES"/>
              <a:t>Los conejos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35D325-021E-4272-9CEB-D44F6117877C}" type="slidenum">
              <a:rPr lang="es-ES" smtClean="0"/>
              <a:pPr>
                <a:defRPr/>
              </a:pPr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461667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Comentar especificaciones del filtro. Explicar el motivo de IIR en vez de FIR. Mencionar por que </a:t>
            </a:r>
            <a:r>
              <a:rPr lang="es-ES" err="1"/>
              <a:t>whitening</a:t>
            </a:r>
            <a:r>
              <a:rPr lang="es-ES"/>
              <a:t> es importante para los modelos de </a:t>
            </a:r>
            <a:r>
              <a:rPr lang="es-ES" err="1"/>
              <a:t>separración</a:t>
            </a:r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35D325-021E-4272-9CEB-D44F6117877C}" type="slidenum">
              <a:rPr lang="es-ES" smtClean="0"/>
              <a:pPr>
                <a:defRPr/>
              </a:pPr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30823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35D325-021E-4272-9CEB-D44F6117877C}" type="slidenum">
              <a:rPr lang="es-ES" smtClean="0"/>
              <a:pPr>
                <a:defRPr/>
              </a:pPr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42247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Comentar como s1&lt;s2,  a_21 &lt;&lt; resto de </a:t>
            </a:r>
            <a:r>
              <a:rPr lang="es-ES" err="1"/>
              <a:t>coeffs</a:t>
            </a:r>
            <a:r>
              <a:rPr lang="es-ES"/>
              <a:t>, cuando hay ruido es difícil de diferenciarlo de s1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35D325-021E-4272-9CEB-D44F6117877C}" type="slidenum">
              <a:rPr lang="es-ES" smtClean="0"/>
              <a:pPr>
                <a:defRPr/>
              </a:pPr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57121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Ambas señales tienen un comportamiento relativamente similar en cuanto autocorrelaciones. La separación será decente pero es esperable que ICA sea mejor en casi todos los casos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35D325-021E-4272-9CEB-D44F6117877C}" type="slidenum">
              <a:rPr lang="es-ES" smtClean="0"/>
              <a:pPr>
                <a:defRPr/>
              </a:pPr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520793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35D325-021E-4272-9CEB-D44F6117877C}" type="slidenum">
              <a:rPr lang="es-ES" smtClean="0"/>
              <a:pPr>
                <a:defRPr/>
              </a:pPr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119869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35D325-021E-4272-9CEB-D44F6117877C}" type="slidenum">
              <a:rPr lang="es-ES" smtClean="0"/>
              <a:pPr>
                <a:defRPr/>
              </a:pPr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476862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0641" y="-1"/>
            <a:ext cx="9218639" cy="68580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71520" y="1939610"/>
            <a:ext cx="5618480" cy="2341244"/>
          </a:xfrm>
        </p:spPr>
        <p:txBody>
          <a:bodyPr anchor="t">
            <a:noAutofit/>
          </a:bodyPr>
          <a:lstStyle>
            <a:lvl1pPr>
              <a:defRPr lang="en-US" sz="3733" b="1" noProof="0" dirty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 defTabSz="914354"/>
            <a:r>
              <a:rPr lang="es-ES_tradnl" noProof="0"/>
              <a:t>Haga clic para modificar el estilo de título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271520" y="4819333"/>
            <a:ext cx="5618480" cy="1500187"/>
          </a:xfrm>
        </p:spPr>
        <p:txBody>
          <a:bodyPr>
            <a:normAutofit/>
          </a:bodyPr>
          <a:lstStyle>
            <a:lvl1pPr>
              <a:defRPr lang="en-US" sz="2800" noProof="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228589" lvl="0" indent="-228589" defTabSz="914354">
              <a:buFont typeface="Wingdings" panose="05000000000000000000" pitchFamily="2" charset="2"/>
              <a:buChar char="§"/>
            </a:pPr>
            <a:r>
              <a:rPr lang="es-ES_tradnl" noProof="0"/>
              <a:t>Haga clic para modificar el estilo de texto del patrón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B6DF747-F3CE-4E1E-A11E-BAE870BD01CB}"/>
              </a:ext>
            </a:extLst>
          </p:cNvPr>
          <p:cNvSpPr/>
          <p:nvPr userDrawn="1"/>
        </p:nvSpPr>
        <p:spPr>
          <a:xfrm>
            <a:off x="-40640" y="6588760"/>
            <a:ext cx="1524000" cy="2692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21F19D-C1F2-A541-A1F7-74A8AD3A04A6}"/>
              </a:ext>
            </a:extLst>
          </p:cNvPr>
          <p:cNvSpPr txBox="1"/>
          <p:nvPr userDrawn="1"/>
        </p:nvSpPr>
        <p:spPr>
          <a:xfrm>
            <a:off x="3271520" y="260648"/>
            <a:ext cx="18405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b="1" noProof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ICAI – GITT</a:t>
            </a:r>
          </a:p>
        </p:txBody>
      </p:sp>
    </p:spTree>
    <p:extLst>
      <p:ext uri="{BB962C8B-B14F-4D97-AF65-F5344CB8AC3E}">
        <p14:creationId xmlns:p14="http://schemas.microsoft.com/office/powerpoint/2010/main" val="1812638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s-ES_tradnl" noProof="0"/>
              <a:t>Haga clic para modificar el estilo de título del patrón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s-ES_tradnl" noProof="0"/>
              <a:t>Haga clic para modificar el estilo de texto del patrón</a:t>
            </a:r>
          </a:p>
          <a:p>
            <a:pPr lvl="1"/>
            <a:r>
              <a:rPr lang="es-ES_tradnl" noProof="0"/>
              <a:t>Segundo nivel</a:t>
            </a:r>
          </a:p>
          <a:p>
            <a:pPr lvl="2"/>
            <a:r>
              <a:rPr lang="es-ES_tradnl" noProof="0"/>
              <a:t>Tercer nivel</a:t>
            </a:r>
          </a:p>
          <a:p>
            <a:pPr lvl="3"/>
            <a:r>
              <a:rPr lang="es-ES_tradnl" noProof="0"/>
              <a:t>Cuarto nivel</a:t>
            </a:r>
          </a:p>
          <a:p>
            <a:pPr lvl="4"/>
            <a:r>
              <a:rPr lang="es-ES_tradnl" noProof="0"/>
              <a:t>Quinto nivel</a:t>
            </a:r>
          </a:p>
        </p:txBody>
      </p:sp>
      <p:sp>
        <p:nvSpPr>
          <p:cNvPr id="10" name="9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214885" y="6451178"/>
            <a:ext cx="671728" cy="366183"/>
          </a:xfrm>
          <a:prstGeom prst="rect">
            <a:avLst/>
          </a:prstGeom>
        </p:spPr>
        <p:txBody>
          <a:bodyPr/>
          <a:lstStyle/>
          <a:p>
            <a:pPr algn="ctr"/>
            <a:fld id="{D37213CB-1ECD-4F3D-B179-C0F228892E9C}" type="slidenum">
              <a:rPr lang="es-ES_tradnl" noProof="0" smtClean="0"/>
              <a:pPr algn="ctr"/>
              <a:t>‹#›</a:t>
            </a:fld>
            <a:endParaRPr lang="es-ES_tradnl" noProof="0"/>
          </a:p>
        </p:txBody>
      </p:sp>
    </p:spTree>
    <p:extLst>
      <p:ext uri="{BB962C8B-B14F-4D97-AF65-F5344CB8AC3E}">
        <p14:creationId xmlns:p14="http://schemas.microsoft.com/office/powerpoint/2010/main" val="3097566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s-ES_tradnl" noProof="0"/>
              <a:t>Haga clic para modificar el estilo de título del patrón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147730" y="1825625"/>
            <a:ext cx="3576671" cy="4351339"/>
          </a:xfrm>
        </p:spPr>
        <p:txBody>
          <a:bodyPr/>
          <a:lstStyle/>
          <a:p>
            <a:pPr lvl="0"/>
            <a:r>
              <a:rPr lang="es-ES_tradnl" noProof="0"/>
              <a:t>Haga clic para modificar el estilo de texto del patrón</a:t>
            </a:r>
          </a:p>
          <a:p>
            <a:pPr lvl="1"/>
            <a:r>
              <a:rPr lang="es-ES_tradnl" noProof="0"/>
              <a:t>Segundo nivel</a:t>
            </a:r>
          </a:p>
          <a:p>
            <a:pPr lvl="2"/>
            <a:r>
              <a:rPr lang="es-ES_tradnl" noProof="0"/>
              <a:t>Tercer nivel</a:t>
            </a:r>
          </a:p>
          <a:p>
            <a:pPr lvl="3"/>
            <a:r>
              <a:rPr lang="es-ES_tradnl" noProof="0"/>
              <a:t>Cuarto nivel</a:t>
            </a:r>
          </a:p>
          <a:p>
            <a:pPr lvl="4"/>
            <a:r>
              <a:rPr lang="es-ES_tradnl" noProof="0"/>
              <a:t>Quinto nivel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892041" y="1825625"/>
            <a:ext cx="3623311" cy="4351339"/>
          </a:xfrm>
        </p:spPr>
        <p:txBody>
          <a:bodyPr/>
          <a:lstStyle/>
          <a:p>
            <a:pPr lvl="0"/>
            <a:r>
              <a:rPr lang="es-ES_tradnl" noProof="0"/>
              <a:t>Haga clic para modificar el estilo de texto del patrón</a:t>
            </a:r>
          </a:p>
          <a:p>
            <a:pPr lvl="1"/>
            <a:r>
              <a:rPr lang="es-ES_tradnl" noProof="0"/>
              <a:t>Segundo nivel</a:t>
            </a:r>
          </a:p>
          <a:p>
            <a:pPr lvl="2"/>
            <a:r>
              <a:rPr lang="es-ES_tradnl" noProof="0"/>
              <a:t>Tercer nivel</a:t>
            </a:r>
          </a:p>
          <a:p>
            <a:pPr lvl="3"/>
            <a:r>
              <a:rPr lang="es-ES_tradnl" noProof="0"/>
              <a:t>Cuarto nivel</a:t>
            </a:r>
          </a:p>
          <a:p>
            <a:pPr lvl="4"/>
            <a:r>
              <a:rPr lang="es-ES_tradnl" noProof="0"/>
              <a:t>Quinto nivel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0"/>
          </p:nvPr>
        </p:nvSpPr>
        <p:spPr>
          <a:xfrm>
            <a:off x="8214885" y="6451178"/>
            <a:ext cx="671728" cy="366183"/>
          </a:xfrm>
          <a:prstGeom prst="rect">
            <a:avLst/>
          </a:prstGeom>
        </p:spPr>
        <p:txBody>
          <a:bodyPr/>
          <a:lstStyle/>
          <a:p>
            <a:pPr algn="ctr"/>
            <a:fld id="{D37213CB-1ECD-4F3D-B179-C0F228892E9C}" type="slidenum">
              <a:rPr lang="es-ES_tradnl" noProof="0" smtClean="0"/>
              <a:pPr algn="ctr"/>
              <a:t>‹#›</a:t>
            </a:fld>
            <a:endParaRPr lang="es-ES_tradnl" noProof="0"/>
          </a:p>
        </p:txBody>
      </p:sp>
    </p:spTree>
    <p:extLst>
      <p:ext uri="{BB962C8B-B14F-4D97-AF65-F5344CB8AC3E}">
        <p14:creationId xmlns:p14="http://schemas.microsoft.com/office/powerpoint/2010/main" val="1631128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214885" y="6451178"/>
            <a:ext cx="671728" cy="366183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pPr algn="ctr"/>
            <a:fld id="{D37213CB-1ECD-4F3D-B179-C0F228892E9C}" type="slidenum">
              <a:rPr lang="es-ES" smtClean="0"/>
              <a:pPr algn="ctr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416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1099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a de se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10"/>
          <p:cNvSpPr>
            <a:spLocks noChangeShapeType="1"/>
          </p:cNvSpPr>
          <p:nvPr/>
        </p:nvSpPr>
        <p:spPr bwMode="auto">
          <a:xfrm>
            <a:off x="820739" y="2420939"/>
            <a:ext cx="0" cy="914400"/>
          </a:xfrm>
          <a:prstGeom prst="line">
            <a:avLst/>
          </a:prstGeom>
          <a:noFill/>
          <a:ln w="9525">
            <a:solidFill>
              <a:srgbClr val="163E8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1"/>
          </a:p>
        </p:txBody>
      </p:sp>
      <p:sp>
        <p:nvSpPr>
          <p:cNvPr id="7" name="Line 11"/>
          <p:cNvSpPr>
            <a:spLocks noChangeShapeType="1"/>
          </p:cNvSpPr>
          <p:nvPr/>
        </p:nvSpPr>
        <p:spPr bwMode="auto">
          <a:xfrm flipH="1">
            <a:off x="582613" y="3186113"/>
            <a:ext cx="493712" cy="0"/>
          </a:xfrm>
          <a:prstGeom prst="line">
            <a:avLst/>
          </a:prstGeom>
          <a:noFill/>
          <a:ln w="9525">
            <a:solidFill>
              <a:srgbClr val="163E8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1"/>
          </a:p>
        </p:txBody>
      </p:sp>
      <p:sp>
        <p:nvSpPr>
          <p:cNvPr id="8" name="Line 12"/>
          <p:cNvSpPr>
            <a:spLocks noChangeShapeType="1"/>
          </p:cNvSpPr>
          <p:nvPr/>
        </p:nvSpPr>
        <p:spPr bwMode="auto">
          <a:xfrm flipV="1">
            <a:off x="850900" y="1433513"/>
            <a:ext cx="0" cy="304800"/>
          </a:xfrm>
          <a:prstGeom prst="line">
            <a:avLst/>
          </a:prstGeom>
          <a:noFill/>
          <a:ln w="9525">
            <a:solidFill>
              <a:srgbClr val="163E8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1"/>
          </a:p>
        </p:txBody>
      </p:sp>
      <p:sp>
        <p:nvSpPr>
          <p:cNvPr id="9" name="Line 13"/>
          <p:cNvSpPr>
            <a:spLocks noChangeShapeType="1"/>
          </p:cNvSpPr>
          <p:nvPr/>
        </p:nvSpPr>
        <p:spPr bwMode="auto">
          <a:xfrm flipH="1" flipV="1">
            <a:off x="754065" y="1557339"/>
            <a:ext cx="352425" cy="0"/>
          </a:xfrm>
          <a:prstGeom prst="line">
            <a:avLst/>
          </a:prstGeom>
          <a:noFill/>
          <a:ln w="9525">
            <a:solidFill>
              <a:srgbClr val="163E8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1"/>
          </a:p>
        </p:txBody>
      </p:sp>
      <p:sp>
        <p:nvSpPr>
          <p:cNvPr id="10" name="Line 14"/>
          <p:cNvSpPr>
            <a:spLocks noChangeShapeType="1"/>
          </p:cNvSpPr>
          <p:nvPr/>
        </p:nvSpPr>
        <p:spPr bwMode="auto">
          <a:xfrm>
            <a:off x="2516188" y="1268413"/>
            <a:ext cx="0" cy="914400"/>
          </a:xfrm>
          <a:prstGeom prst="line">
            <a:avLst/>
          </a:prstGeom>
          <a:noFill/>
          <a:ln w="9525">
            <a:solidFill>
              <a:srgbClr val="163E8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1"/>
          </a:p>
        </p:txBody>
      </p:sp>
      <p:sp>
        <p:nvSpPr>
          <p:cNvPr id="11" name="Line 15"/>
          <p:cNvSpPr>
            <a:spLocks noChangeShapeType="1"/>
          </p:cNvSpPr>
          <p:nvPr/>
        </p:nvSpPr>
        <p:spPr bwMode="auto">
          <a:xfrm flipH="1">
            <a:off x="2163763" y="1544639"/>
            <a:ext cx="493712" cy="0"/>
          </a:xfrm>
          <a:prstGeom prst="line">
            <a:avLst/>
          </a:prstGeom>
          <a:noFill/>
          <a:ln w="9525">
            <a:solidFill>
              <a:srgbClr val="163E8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1"/>
          </a:p>
        </p:txBody>
      </p:sp>
      <p:sp>
        <p:nvSpPr>
          <p:cNvPr id="12" name="Line 16"/>
          <p:cNvSpPr>
            <a:spLocks noChangeShapeType="1"/>
          </p:cNvSpPr>
          <p:nvPr/>
        </p:nvSpPr>
        <p:spPr bwMode="auto">
          <a:xfrm flipV="1">
            <a:off x="877888" y="5211763"/>
            <a:ext cx="0" cy="304800"/>
          </a:xfrm>
          <a:prstGeom prst="line">
            <a:avLst/>
          </a:prstGeom>
          <a:noFill/>
          <a:ln w="9525">
            <a:solidFill>
              <a:srgbClr val="163E8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1"/>
          </a:p>
        </p:txBody>
      </p:sp>
      <p:sp>
        <p:nvSpPr>
          <p:cNvPr id="13" name="Line 17"/>
          <p:cNvSpPr>
            <a:spLocks noChangeShapeType="1"/>
          </p:cNvSpPr>
          <p:nvPr/>
        </p:nvSpPr>
        <p:spPr bwMode="auto">
          <a:xfrm flipH="1" flipV="1">
            <a:off x="781052" y="5335588"/>
            <a:ext cx="352425" cy="0"/>
          </a:xfrm>
          <a:prstGeom prst="line">
            <a:avLst/>
          </a:prstGeom>
          <a:noFill/>
          <a:ln w="9525">
            <a:solidFill>
              <a:srgbClr val="163E8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1"/>
          </a:p>
        </p:txBody>
      </p:sp>
      <p:sp>
        <p:nvSpPr>
          <p:cNvPr id="14" name="Line 18"/>
          <p:cNvSpPr>
            <a:spLocks noChangeShapeType="1"/>
          </p:cNvSpPr>
          <p:nvPr/>
        </p:nvSpPr>
        <p:spPr bwMode="auto">
          <a:xfrm>
            <a:off x="7697788" y="3732213"/>
            <a:ext cx="0" cy="914400"/>
          </a:xfrm>
          <a:prstGeom prst="line">
            <a:avLst/>
          </a:prstGeom>
          <a:noFill/>
          <a:ln w="9525">
            <a:solidFill>
              <a:srgbClr val="163E8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1"/>
          </a:p>
        </p:txBody>
      </p:sp>
      <p:sp>
        <p:nvSpPr>
          <p:cNvPr id="15" name="Line 19"/>
          <p:cNvSpPr>
            <a:spLocks noChangeShapeType="1"/>
          </p:cNvSpPr>
          <p:nvPr/>
        </p:nvSpPr>
        <p:spPr bwMode="auto">
          <a:xfrm flipH="1">
            <a:off x="7345363" y="4008437"/>
            <a:ext cx="493712" cy="0"/>
          </a:xfrm>
          <a:prstGeom prst="line">
            <a:avLst/>
          </a:prstGeom>
          <a:noFill/>
          <a:ln w="9525">
            <a:solidFill>
              <a:srgbClr val="163E8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1"/>
          </a:p>
        </p:txBody>
      </p:sp>
      <p:sp>
        <p:nvSpPr>
          <p:cNvPr id="16" name="15 Rectángulo"/>
          <p:cNvSpPr>
            <a:spLocks noChangeArrowheads="1"/>
          </p:cNvSpPr>
          <p:nvPr/>
        </p:nvSpPr>
        <p:spPr bwMode="auto">
          <a:xfrm>
            <a:off x="1" y="6389688"/>
            <a:ext cx="7143751" cy="468312"/>
          </a:xfrm>
          <a:prstGeom prst="rect">
            <a:avLst/>
          </a:prstGeom>
          <a:solidFill>
            <a:srgbClr val="163E83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Optima" panose="02000503060000020004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tima" panose="02000503060000020004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tima" panose="02000503060000020004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tima" panose="02000503060000020004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tima" panose="02000503060000020004" pitchFamily="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tima" panose="02000503060000020004" pitchFamily="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tima" panose="02000503060000020004" pitchFamily="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tima" panose="02000503060000020004" pitchFamily="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tima" panose="02000503060000020004" pitchFamily="2" charset="0"/>
              </a:defRPr>
            </a:lvl9pPr>
          </a:lstStyle>
          <a:p>
            <a:pPr algn="ctr" eaLnBrk="1" hangingPunct="1"/>
            <a:endParaRPr lang="es-ES" altLang="es-ES" sz="1351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874836" y="1587502"/>
            <a:ext cx="1587011" cy="1552575"/>
          </a:xfrm>
          <a:solidFill>
            <a:schemeClr val="accent1">
              <a:lumMod val="40000"/>
              <a:lumOff val="60000"/>
            </a:schemeClr>
          </a:solidFill>
          <a:ln w="9525"/>
        </p:spPr>
        <p:txBody>
          <a:bodyPr anchor="ctr"/>
          <a:lstStyle>
            <a:lvl1pPr algn="ctr">
              <a:defRPr sz="60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s-ES"/>
              <a:t>1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874836" y="4014788"/>
            <a:ext cx="6821365" cy="1314451"/>
          </a:xfrm>
          <a:noFill/>
        </p:spPr>
        <p:txBody>
          <a:bodyPr tIns="108000" bIns="108000" anchor="ctr"/>
          <a:lstStyle>
            <a:lvl1pPr marL="271456" indent="-271456" algn="ctr" eaLnBrk="1" hangingPunct="1">
              <a:buNone/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8701A1F-3DDD-41D4-A1D1-2F23B1D036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3488" y="5969905"/>
            <a:ext cx="1691677" cy="88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900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n 16"/>
          <p:cNvPicPr>
            <a:picLocks noChangeAspect="1"/>
          </p:cNvPicPr>
          <p:nvPr userDrawn="1"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 r="1458" b="11233"/>
          <a:stretch/>
        </p:blipFill>
        <p:spPr>
          <a:xfrm>
            <a:off x="5306096" y="2420247"/>
            <a:ext cx="3837904" cy="3939279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3319" y="80576"/>
            <a:ext cx="7912188" cy="101670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/>
          <a:p>
            <a:r>
              <a:rPr lang="es-ES_tradnl" noProof="0"/>
              <a:t>Haga clic para modificar el estilo de título del patrón</a:t>
            </a:r>
          </a:p>
        </p:txBody>
      </p:sp>
      <p:sp>
        <p:nvSpPr>
          <p:cNvPr id="12" name="Rectangle 50"/>
          <p:cNvSpPr>
            <a:spLocks noChangeArrowheads="1"/>
          </p:cNvSpPr>
          <p:nvPr/>
        </p:nvSpPr>
        <p:spPr bwMode="auto">
          <a:xfrm>
            <a:off x="896096" y="6399284"/>
            <a:ext cx="4451569" cy="48902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 lIns="120649" tIns="59267" rIns="120649" bIns="59267">
            <a:spAutoFit/>
          </a:bodyPr>
          <a:lstStyle/>
          <a:p>
            <a:pPr algn="l" defTabSz="1015975" eaLnBrk="0" hangingPunct="0">
              <a:defRPr/>
            </a:pPr>
            <a:r>
              <a:rPr lang="es-ES_tradnl" sz="1200" b="1" noProof="0">
                <a:solidFill>
                  <a:schemeClr val="tx1"/>
                </a:solidFill>
                <a:latin typeface="+mj-lt"/>
              </a:rPr>
              <a:t>TFG</a:t>
            </a:r>
          </a:p>
          <a:p>
            <a:pPr algn="l" defTabSz="1015975" eaLnBrk="0" hangingPunct="0">
              <a:defRPr/>
            </a:pPr>
            <a:r>
              <a:rPr lang="es-ES_tradnl" sz="1200" b="1" noProof="0">
                <a:solidFill>
                  <a:srgbClr val="808080"/>
                </a:solidFill>
                <a:latin typeface="+mj-lt"/>
              </a:rPr>
              <a:t>ICAI – Grado en Ingeniería de Telecomunicación</a:t>
            </a:r>
          </a:p>
        </p:txBody>
      </p:sp>
      <p:sp>
        <p:nvSpPr>
          <p:cNvPr id="13" name="Rectangle 50"/>
          <p:cNvSpPr>
            <a:spLocks noChangeArrowheads="1"/>
          </p:cNvSpPr>
          <p:nvPr/>
        </p:nvSpPr>
        <p:spPr bwMode="auto">
          <a:xfrm>
            <a:off x="3562840" y="6400692"/>
            <a:ext cx="4451569" cy="48902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 lIns="120649" tIns="59267" rIns="120649" bIns="59267">
            <a:spAutoFit/>
          </a:bodyPr>
          <a:lstStyle/>
          <a:p>
            <a:pPr algn="r" defTabSz="1015975" eaLnBrk="0" hangingPunct="0">
              <a:defRPr/>
            </a:pPr>
            <a:r>
              <a:rPr lang="es-ES_tradnl" sz="1200" b="1" noProof="0">
                <a:solidFill>
                  <a:schemeClr val="tx1"/>
                </a:solidFill>
                <a:latin typeface="+mj-lt"/>
              </a:rPr>
              <a:t>Separación de señales EMG</a:t>
            </a:r>
          </a:p>
          <a:p>
            <a:pPr algn="r" defTabSz="1015975" eaLnBrk="0" hangingPunct="0">
              <a:defRPr/>
            </a:pPr>
            <a:r>
              <a:rPr lang="es-ES_tradnl" sz="1200" b="1">
                <a:solidFill>
                  <a:srgbClr val="808080"/>
                </a:solidFill>
                <a:latin typeface="+mj-lt"/>
              </a:rPr>
              <a:t>Curso 2025-2026</a:t>
            </a:r>
          </a:p>
        </p:txBody>
      </p:sp>
      <p:sp>
        <p:nvSpPr>
          <p:cNvPr id="14" name="Rectangle 41"/>
          <p:cNvSpPr>
            <a:spLocks noChangeArrowheads="1"/>
          </p:cNvSpPr>
          <p:nvPr/>
        </p:nvSpPr>
        <p:spPr bwMode="auto">
          <a:xfrm>
            <a:off x="8348708" y="6420739"/>
            <a:ext cx="522577" cy="407014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none" lIns="120649" tIns="59267" rIns="120649" bIns="59267">
            <a:spAutoFit/>
          </a:bodyPr>
          <a:lstStyle/>
          <a:p>
            <a:pPr algn="r" defTabSz="1015975" eaLnBrk="0" hangingPunct="0">
              <a:defRPr/>
            </a:pPr>
            <a:fld id="{11564133-8E01-494E-9A79-52127C69F167}" type="slidenum">
              <a:rPr lang="es-ES_tradnl" sz="1867" b="0" smtClean="0">
                <a:solidFill>
                  <a:schemeClr val="tx1"/>
                </a:solidFill>
                <a:latin typeface="+mj-lt"/>
              </a:rPr>
              <a:pPr algn="r" defTabSz="1015975" eaLnBrk="0" hangingPunct="0">
                <a:defRPr/>
              </a:pPr>
              <a:t>‹#›</a:t>
            </a:fld>
            <a:endParaRPr lang="es-ES_tradnl" sz="1867" b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3319" y="1192107"/>
            <a:ext cx="7912188" cy="51612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s-ES_tradnl" noProof="0"/>
              <a:t>Haga clic para modificar el estilo de texto del patrón</a:t>
            </a:r>
          </a:p>
          <a:p>
            <a:pPr lvl="1"/>
            <a:r>
              <a:rPr lang="es-ES_tradnl" noProof="0"/>
              <a:t>Segundo nivel</a:t>
            </a:r>
          </a:p>
          <a:p>
            <a:pPr lvl="2"/>
            <a:r>
              <a:rPr lang="es-ES_tradnl" noProof="0"/>
              <a:t>Tercer nivel</a:t>
            </a:r>
          </a:p>
          <a:p>
            <a:pPr lvl="3"/>
            <a:r>
              <a:rPr lang="es-ES_tradnl" noProof="0"/>
              <a:t>Cuarto nivel</a:t>
            </a:r>
          </a:p>
          <a:p>
            <a:pPr lvl="5"/>
            <a:r>
              <a:rPr lang="es-ES_tradnl" noProof="0"/>
              <a:t>Quinto nivel</a:t>
            </a:r>
          </a:p>
        </p:txBody>
      </p:sp>
      <p:pic>
        <p:nvPicPr>
          <p:cNvPr id="5" name="Imagen 4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88851" y="165658"/>
            <a:ext cx="807244" cy="752975"/>
          </a:xfrm>
          <a:prstGeom prst="rect">
            <a:avLst/>
          </a:prstGeom>
        </p:spPr>
      </p:pic>
      <p:cxnSp>
        <p:nvCxnSpPr>
          <p:cNvPr id="9" name="Conector recto 8"/>
          <p:cNvCxnSpPr/>
          <p:nvPr userDrawn="1"/>
        </p:nvCxnSpPr>
        <p:spPr>
          <a:xfrm>
            <a:off x="933319" y="6437629"/>
            <a:ext cx="1460632" cy="0"/>
          </a:xfrm>
          <a:prstGeom prst="line">
            <a:avLst/>
          </a:prstGeom>
          <a:ln>
            <a:solidFill>
              <a:srgbClr val="173E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3152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</p:sldLayoutIdLst>
  <p:hf sldNum="0"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3733" b="0" kern="1200">
          <a:solidFill>
            <a:schemeClr val="tx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j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j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133" kern="1200">
          <a:solidFill>
            <a:schemeClr val="tx1"/>
          </a:solidFill>
          <a:latin typeface="+mj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7 Título"/>
          <p:cNvSpPr>
            <a:spLocks noGrp="1"/>
          </p:cNvSpPr>
          <p:nvPr>
            <p:ph type="title"/>
          </p:nvPr>
        </p:nvSpPr>
        <p:spPr>
          <a:ln w="9525"/>
        </p:spPr>
        <p:txBody>
          <a:bodyPr/>
          <a:lstStyle/>
          <a:p>
            <a:r>
              <a:rPr lang="es-ES" altLang="es-ES"/>
              <a:t>Trabajo Fin de Grado</a:t>
            </a:r>
            <a:br>
              <a:rPr lang="es-ES" altLang="es-ES"/>
            </a:br>
            <a:r>
              <a:rPr lang="es-ES" altLang="es-ES" b="0"/>
              <a:t>Separación de señales </a:t>
            </a:r>
            <a:r>
              <a:rPr lang="es-ES" altLang="es-ES" b="0" err="1"/>
              <a:t>electromiográficas</a:t>
            </a:r>
            <a:r>
              <a:rPr lang="es-ES" altLang="es-ES" b="0"/>
              <a:t> según músculo de referencia</a:t>
            </a:r>
          </a:p>
        </p:txBody>
      </p:sp>
      <p:sp>
        <p:nvSpPr>
          <p:cNvPr id="7171" name="3 Subtítulo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altLang="es-ES"/>
              <a:t>Antón Cobián Iregui – 4ºX GITT</a:t>
            </a:r>
          </a:p>
          <a:p>
            <a:pPr marL="0" indent="0">
              <a:buNone/>
            </a:pPr>
            <a:r>
              <a:rPr lang="es-ES" altLang="es-ES"/>
              <a:t>Director: Romano Giannetti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3714750" y="5956300"/>
            <a:ext cx="5286375" cy="9017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 anchorCtr="1"/>
          <a:lstStyle>
            <a:lvl1pPr marL="0" marR="0" indent="0" algn="ctr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 sz="1800" baseline="0"/>
            </a:lvl1pPr>
          </a:lstStyle>
          <a:p>
            <a:pPr>
              <a:defRPr/>
            </a:pPr>
            <a:endParaRPr lang="es-ES_tradnl" sz="1400" kern="0">
              <a:latin typeface="Calibri" pitchFamily="34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s-ES"/>
              <a:t>Índice de la presentación</a:t>
            </a:r>
          </a:p>
        </p:txBody>
      </p:sp>
      <p:sp>
        <p:nvSpPr>
          <p:cNvPr id="9219" name="2 Marcador de contenido"/>
          <p:cNvSpPr>
            <a:spLocks noGrp="1"/>
          </p:cNvSpPr>
          <p:nvPr>
            <p:ph idx="1"/>
          </p:nvPr>
        </p:nvSpPr>
        <p:spPr>
          <a:xfrm>
            <a:off x="457200" y="990600"/>
            <a:ext cx="8686800" cy="5161279"/>
          </a:xfrm>
        </p:spPr>
        <p:txBody>
          <a:bodyPr/>
          <a:lstStyle/>
          <a:p>
            <a:pPr marL="457200" indent="-457200">
              <a:buFont typeface="Optima" panose="02000503060000020004" pitchFamily="2" charset="0"/>
              <a:buAutoNum type="arabicPeriod"/>
            </a:pPr>
            <a:r>
              <a:rPr lang="es-ES_tradnl" altLang="es-ES" dirty="0"/>
              <a:t>Introducción</a:t>
            </a:r>
          </a:p>
          <a:p>
            <a:pPr marL="971539" lvl="1" indent="-514350">
              <a:buFont typeface="+mj-lt"/>
              <a:buAutoNum type="alphaUcPeriod"/>
            </a:pPr>
            <a:r>
              <a:rPr lang="es-ES_tradnl" altLang="es-ES" dirty="0"/>
              <a:t>Contexto y estado del arte</a:t>
            </a:r>
          </a:p>
          <a:p>
            <a:pPr marL="971539" lvl="1" indent="-514350">
              <a:buFont typeface="+mj-lt"/>
              <a:buAutoNum type="alphaUcPeriod"/>
            </a:pPr>
            <a:r>
              <a:rPr lang="es-ES_tradnl" altLang="es-ES" dirty="0"/>
              <a:t>Motivación y objetivos</a:t>
            </a:r>
            <a:endParaRPr lang="es-ES" altLang="es-ES" dirty="0"/>
          </a:p>
          <a:p>
            <a:pPr marL="457200" indent="-457200">
              <a:buFont typeface="Optima" panose="02000503060000020004" pitchFamily="2" charset="0"/>
              <a:buAutoNum type="arabicPeriod"/>
            </a:pPr>
            <a:r>
              <a:rPr lang="es-ES_tradnl" altLang="es-ES" dirty="0"/>
              <a:t>Plan de trabajo y recursos (Anexo vs Actualidad)</a:t>
            </a:r>
            <a:endParaRPr lang="es-ES" altLang="es-ES" dirty="0"/>
          </a:p>
          <a:p>
            <a:pPr marL="457200" indent="-457200">
              <a:buFont typeface="Optima" panose="02000503060000020004" pitchFamily="2" charset="0"/>
              <a:buAutoNum type="arabicPeriod"/>
            </a:pPr>
            <a:r>
              <a:rPr lang="es-ES_tradnl" altLang="es-ES" dirty="0"/>
              <a:t>Trabajo desarrollado hasta la fecha</a:t>
            </a:r>
          </a:p>
          <a:p>
            <a:pPr marL="971539" lvl="1" indent="-514350">
              <a:buFont typeface="+mj-lt"/>
              <a:buAutoNum type="alphaUcPeriod"/>
            </a:pPr>
            <a:r>
              <a:rPr lang="es-ES_tradnl" altLang="es-ES" dirty="0"/>
              <a:t>Bases de datos</a:t>
            </a:r>
          </a:p>
          <a:p>
            <a:pPr marL="971539" lvl="1" indent="-514350">
              <a:buFont typeface="+mj-lt"/>
              <a:buAutoNum type="alphaUcPeriod"/>
            </a:pPr>
            <a:r>
              <a:rPr lang="es-ES_tradnl" altLang="es-ES" dirty="0"/>
              <a:t>Preprocesamiento</a:t>
            </a:r>
          </a:p>
          <a:p>
            <a:pPr marL="971539" lvl="1" indent="-514350">
              <a:buFont typeface="+mj-lt"/>
              <a:buAutoNum type="alphaUcPeriod"/>
            </a:pPr>
            <a:r>
              <a:rPr lang="es-ES_tradnl" altLang="es-ES" dirty="0"/>
              <a:t>Aplicación de algoritmos de separación</a:t>
            </a:r>
          </a:p>
          <a:p>
            <a:pPr marL="1428727" lvl="2" indent="-514350">
              <a:buFont typeface="+mj-lt"/>
              <a:buAutoNum type="romanLcPeriod"/>
            </a:pPr>
            <a:r>
              <a:rPr lang="es-ES_tradnl" altLang="es-ES" dirty="0"/>
              <a:t>Separación según independencia estadística</a:t>
            </a:r>
          </a:p>
          <a:p>
            <a:pPr marL="1428727" lvl="2" indent="-514350">
              <a:buFont typeface="+mj-lt"/>
              <a:buAutoNum type="romanLcPeriod"/>
            </a:pPr>
            <a:r>
              <a:rPr lang="es-ES_tradnl" altLang="es-ES" dirty="0"/>
              <a:t>Separación según independencia temporal</a:t>
            </a:r>
          </a:p>
          <a:p>
            <a:pPr marL="1428727" lvl="2" indent="-514350">
              <a:buFont typeface="+mj-lt"/>
              <a:buAutoNum type="romanLcPeriod"/>
            </a:pPr>
            <a:r>
              <a:rPr lang="es-ES_tradnl" altLang="es-ES" dirty="0"/>
              <a:t>Separación </a:t>
            </a:r>
            <a:r>
              <a:rPr lang="es-ES_tradnl" altLang="es-ES" dirty="0" err="1"/>
              <a:t>semi-ciega</a:t>
            </a:r>
            <a:endParaRPr lang="es-ES_tradnl" altLang="es-ES" dirty="0"/>
          </a:p>
          <a:p>
            <a:pPr marL="457200" indent="-457200">
              <a:buFont typeface="Optima" panose="02000503060000020004" pitchFamily="2" charset="0"/>
              <a:buAutoNum type="arabicPeriod"/>
            </a:pPr>
            <a:r>
              <a:rPr lang="es-ES_tradnl" altLang="es-ES" dirty="0"/>
              <a:t>Conclusiones </a:t>
            </a:r>
          </a:p>
          <a:p>
            <a:pPr marL="0" indent="0">
              <a:buNone/>
            </a:pPr>
            <a:endParaRPr lang="es-ES" altLang="es-ES" dirty="0"/>
          </a:p>
          <a:p>
            <a:pPr marL="457200" indent="-457200">
              <a:buFont typeface="Optima" panose="02000503060000020004" pitchFamily="2" charset="0"/>
              <a:buAutoNum type="arabicPeriod"/>
            </a:pPr>
            <a:endParaRPr lang="es-ES" altLang="es-ES" dirty="0"/>
          </a:p>
          <a:p>
            <a:pPr marL="457200" indent="-457200">
              <a:buFont typeface="Optima" panose="02000503060000020004" pitchFamily="2" charset="0"/>
              <a:buAutoNum type="arabicPeriod"/>
            </a:pPr>
            <a:endParaRPr lang="es-ES_tradnl" altLang="es-ES" dirty="0"/>
          </a:p>
          <a:p>
            <a:pPr marL="457200" indent="-457200">
              <a:buFont typeface="Optima" panose="02000503060000020004" pitchFamily="2" charset="0"/>
              <a:buAutoNum type="arabicPeriod"/>
            </a:pPr>
            <a:endParaRPr lang="es-ES" altLang="es-ES" dirty="0"/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3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_tradnl" altLang="es-ES"/>
              <a:t>1</a:t>
            </a:r>
            <a:endParaRPr lang="es-ES" altLang="es-ES"/>
          </a:p>
        </p:txBody>
      </p:sp>
      <p:sp>
        <p:nvSpPr>
          <p:cNvPr id="10242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altLang="es-ES" dirty="0"/>
              <a:t>Introducción (Anexo B)</a:t>
            </a: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F1666-C2E4-B243-9DF7-4031D4772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319" y="80576"/>
            <a:ext cx="7912188" cy="1016705"/>
          </a:xfrm>
        </p:spPr>
        <p:txBody>
          <a:bodyPr anchor="ctr">
            <a:normAutofit fontScale="90000"/>
          </a:bodyPr>
          <a:lstStyle/>
          <a:p>
            <a:r>
              <a:rPr lang="en-US" err="1"/>
              <a:t>Separación</a:t>
            </a:r>
            <a:r>
              <a:rPr lang="en-US"/>
              <a:t> de </a:t>
            </a:r>
            <a:r>
              <a:rPr lang="en-US" err="1"/>
              <a:t>fuentes</a:t>
            </a:r>
            <a:r>
              <a:rPr lang="en-US"/>
              <a:t> - Telecomunicaciones 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3AAD5CE-A93B-D06A-4134-05626A7E57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9264" y="1524000"/>
            <a:ext cx="3886200" cy="4351339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 err="1"/>
              <a:t>Sensores</a:t>
            </a:r>
            <a:r>
              <a:rPr lang="en-US" sz="2800" dirty="0"/>
              <a:t> </a:t>
            </a:r>
            <a:r>
              <a:rPr lang="en-US" sz="2800" dirty="0" err="1"/>
              <a:t>reciben</a:t>
            </a:r>
            <a:r>
              <a:rPr lang="en-US" sz="2800" dirty="0"/>
              <a:t> </a:t>
            </a:r>
            <a:r>
              <a:rPr lang="en-US" sz="2800" dirty="0" err="1"/>
              <a:t>mezcla</a:t>
            </a:r>
            <a:r>
              <a:rPr lang="en-US" sz="2800" dirty="0"/>
              <a:t> de </a:t>
            </a:r>
            <a:r>
              <a:rPr lang="en-US" sz="2800" dirty="0" err="1"/>
              <a:t>señales</a:t>
            </a:r>
            <a:endParaRPr lang="en-US" sz="2800" dirty="0"/>
          </a:p>
          <a:p>
            <a:pPr>
              <a:buFont typeface="Wingdings" panose="05000000000000000000" pitchFamily="2" charset="2"/>
              <a:buChar char="Ø"/>
            </a:pPr>
            <a:endParaRPr lang="en-US" sz="2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Se </a:t>
            </a:r>
            <a:r>
              <a:rPr lang="en-US" sz="2800" dirty="0" err="1"/>
              <a:t>desconocen</a:t>
            </a:r>
            <a:r>
              <a:rPr lang="en-US" sz="2800" dirty="0"/>
              <a:t> tanto </a:t>
            </a:r>
            <a:r>
              <a:rPr lang="en-US" sz="2800" dirty="0" err="1"/>
              <a:t>fuentes</a:t>
            </a:r>
            <a:r>
              <a:rPr lang="en-US" sz="2800" dirty="0"/>
              <a:t> </a:t>
            </a:r>
            <a:r>
              <a:rPr lang="en-US" sz="2800" dirty="0" err="1"/>
              <a:t>como</a:t>
            </a:r>
            <a:r>
              <a:rPr lang="en-US" sz="2800" dirty="0"/>
              <a:t> medio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Se propone </a:t>
            </a:r>
            <a:r>
              <a:rPr lang="en-US" sz="2800" dirty="0" err="1"/>
              <a:t>recuperar</a:t>
            </a:r>
            <a:r>
              <a:rPr lang="en-US" sz="2800" dirty="0"/>
              <a:t> </a:t>
            </a:r>
            <a:r>
              <a:rPr lang="en-US" sz="2800" dirty="0" err="1"/>
              <a:t>fuentes</a:t>
            </a:r>
            <a:r>
              <a:rPr lang="en-US" sz="2800" dirty="0"/>
              <a:t> </a:t>
            </a:r>
            <a:r>
              <a:rPr lang="en-US" sz="2800" dirty="0" err="1"/>
              <a:t>originales</a:t>
            </a:r>
            <a:endParaRPr lang="en-US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930749-39D7-EA43-0E2B-0D24FB621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9413" y="1891246"/>
            <a:ext cx="3971337" cy="3048000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F585341-FC71-7AAE-9D85-FC9743D2D922}"/>
              </a:ext>
            </a:extLst>
          </p:cNvPr>
          <p:cNvSpPr txBox="1"/>
          <p:nvPr/>
        </p:nvSpPr>
        <p:spPr>
          <a:xfrm>
            <a:off x="5890851" y="4939246"/>
            <a:ext cx="228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>
                <a:latin typeface="+mn-lt"/>
              </a:rPr>
              <a:t>[1]</a:t>
            </a:r>
          </a:p>
        </p:txBody>
      </p:sp>
    </p:spTree>
    <p:extLst>
      <p:ext uri="{BB962C8B-B14F-4D97-AF65-F5344CB8AC3E}">
        <p14:creationId xmlns:p14="http://schemas.microsoft.com/office/powerpoint/2010/main" val="50218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227CC-1778-D124-B164-1637AD708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Contexto y Estado del Arte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91F351-B642-1F83-F179-BB71D6EBC1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446" y="848360"/>
            <a:ext cx="8693107" cy="5161279"/>
          </a:xfrm>
        </p:spPr>
        <p:txBody>
          <a:bodyPr/>
          <a:lstStyle/>
          <a:p>
            <a:r>
              <a:rPr lang="es-ES" sz="2600"/>
              <a:t>Presente en la ingeniería biomédica</a:t>
            </a:r>
          </a:p>
          <a:p>
            <a:pPr lvl="1"/>
            <a:r>
              <a:rPr lang="es-ES" sz="2200"/>
              <a:t>Especialmente en </a:t>
            </a:r>
            <a:r>
              <a:rPr lang="es-ES" sz="2200" b="1"/>
              <a:t>EEG</a:t>
            </a:r>
            <a:r>
              <a:rPr lang="es-ES" sz="2200"/>
              <a:t> (señales con múltiples fuentes)</a:t>
            </a:r>
          </a:p>
          <a:p>
            <a:pPr lvl="1"/>
            <a:r>
              <a:rPr lang="es-ES" sz="2200"/>
              <a:t>Técnica de preprocesamiento</a:t>
            </a:r>
          </a:p>
          <a:p>
            <a:r>
              <a:rPr lang="es-ES" sz="2600"/>
              <a:t>Para identificar MU en HD </a:t>
            </a:r>
            <a:r>
              <a:rPr lang="es-ES" sz="2600" err="1"/>
              <a:t>sEMG</a:t>
            </a:r>
            <a:r>
              <a:rPr lang="es-ES" sz="2600"/>
              <a:t> se emplea versiones guiadas de ICA. [2]</a:t>
            </a:r>
          </a:p>
          <a:p>
            <a:r>
              <a:rPr lang="es-ES" sz="2600"/>
              <a:t>Actualmente no se ha explorado a fondo en prótesis EMG </a:t>
            </a:r>
          </a:p>
          <a:p>
            <a:pPr lvl="1"/>
            <a:endParaRPr lang="es-ES"/>
          </a:p>
          <a:p>
            <a:pPr lvl="1"/>
            <a:endParaRPr lang="es-ES"/>
          </a:p>
          <a:p>
            <a:endParaRPr lang="es-ES"/>
          </a:p>
        </p:txBody>
      </p:sp>
      <p:pic>
        <p:nvPicPr>
          <p:cNvPr id="1026" name="Picture 2" descr="(left) A 5-sec portion of an EEG time series. (center) ICA components accounting for eye movements, cardiac signals, and line noise sources. (right) The same EEG signals`correctedsignals`corrected' for artifacts by removing the ve selected components.">
            <a:extLst>
              <a:ext uri="{FF2B5EF4-FFF2-40B4-BE49-F238E27FC236}">
                <a16:creationId xmlns:a16="http://schemas.microsoft.com/office/drawing/2014/main" id="{F1737657-4DAF-882A-CE60-042862CFE9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3276600"/>
            <a:ext cx="4180609" cy="2808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9959A6-4773-1121-BDAF-1418CA012C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6123" y="3276601"/>
            <a:ext cx="4571676" cy="28083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4DA0ED7-638E-11FB-3C0C-7619FE0D4445}"/>
              </a:ext>
            </a:extLst>
          </p:cNvPr>
          <p:cNvSpPr txBox="1"/>
          <p:nvPr/>
        </p:nvSpPr>
        <p:spPr>
          <a:xfrm>
            <a:off x="1143000" y="6084986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>
                <a:latin typeface="+mn-lt"/>
              </a:rPr>
              <a:t>[3]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D35860-9C5E-1E4C-1354-CD11AE7C4EC9}"/>
              </a:ext>
            </a:extLst>
          </p:cNvPr>
          <p:cNvSpPr txBox="1"/>
          <p:nvPr/>
        </p:nvSpPr>
        <p:spPr>
          <a:xfrm>
            <a:off x="5638800" y="6084986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>
                <a:latin typeface="+mn-lt"/>
              </a:rPr>
              <a:t>[2]</a:t>
            </a:r>
          </a:p>
        </p:txBody>
      </p:sp>
    </p:spTree>
    <p:extLst>
      <p:ext uri="{BB962C8B-B14F-4D97-AF65-F5344CB8AC3E}">
        <p14:creationId xmlns:p14="http://schemas.microsoft.com/office/powerpoint/2010/main" val="920035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A8DFE-7DBF-8082-6F81-E04F2FF4F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319" y="80575"/>
            <a:ext cx="7912188" cy="1016705"/>
          </a:xfrm>
        </p:spPr>
        <p:txBody>
          <a:bodyPr anchor="ctr">
            <a:normAutofit/>
          </a:bodyPr>
          <a:lstStyle/>
          <a:p>
            <a:r>
              <a:rPr lang="es-ES" dirty="0"/>
              <a:t>Motivación: </a:t>
            </a:r>
            <a:r>
              <a:rPr lang="es-ES" dirty="0" err="1"/>
              <a:t>Reinervación</a:t>
            </a:r>
            <a:r>
              <a:rPr lang="es-ES" dirty="0"/>
              <a:t> muscular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33798-8F74-5AE2-462A-5FA8E179A7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" y="1097280"/>
            <a:ext cx="5257800" cy="5105400"/>
          </a:xfrm>
        </p:spPr>
        <p:txBody>
          <a:bodyPr>
            <a:normAutofit fontScale="92500"/>
          </a:bodyPr>
          <a:lstStyle/>
          <a:p>
            <a:r>
              <a:rPr lang="es-ES"/>
              <a:t>Nervios se redirigen. Técnicas:</a:t>
            </a:r>
          </a:p>
          <a:p>
            <a:pPr lvl="1"/>
            <a:r>
              <a:rPr lang="es-ES" sz="2800"/>
              <a:t>TMR</a:t>
            </a:r>
          </a:p>
          <a:p>
            <a:pPr lvl="1"/>
            <a:r>
              <a:rPr lang="es-ES" sz="2800"/>
              <a:t>RPNI</a:t>
            </a:r>
          </a:p>
          <a:p>
            <a:pPr lvl="1"/>
            <a:r>
              <a:rPr lang="es-ES" sz="2800" err="1"/>
              <a:t>VDMTs</a:t>
            </a:r>
            <a:r>
              <a:rPr lang="es-ES" sz="2800"/>
              <a:t> [5]</a:t>
            </a:r>
          </a:p>
          <a:p>
            <a:r>
              <a:rPr lang="es-ES"/>
              <a:t>Se modifica la morfología</a:t>
            </a:r>
          </a:p>
          <a:p>
            <a:r>
              <a:rPr lang="es-ES"/>
              <a:t>Mezcla de actividad procedente de:</a:t>
            </a:r>
          </a:p>
          <a:p>
            <a:pPr lvl="1"/>
            <a:r>
              <a:rPr lang="es-ES" sz="2800" b="1"/>
              <a:t>Músculo </a:t>
            </a:r>
            <a:r>
              <a:rPr lang="es-ES" sz="2800" b="1" err="1"/>
              <a:t>reinervado</a:t>
            </a:r>
            <a:endParaRPr lang="es-ES" sz="2800" b="1"/>
          </a:p>
          <a:p>
            <a:pPr lvl="1"/>
            <a:r>
              <a:rPr lang="es-ES" sz="2800" b="1"/>
              <a:t>Músculos adyacentes</a:t>
            </a:r>
          </a:p>
          <a:p>
            <a:r>
              <a:rPr lang="es-ES"/>
              <a:t>Limita el control de prótesis basadas en EMG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BF4022E-3A5F-4DEB-E9AD-E55C3EB87D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28139" y="931545"/>
            <a:ext cx="3505199" cy="2268855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4D4850B-35FF-EFF4-83F5-C2CECEEF052C}"/>
              </a:ext>
            </a:extLst>
          </p:cNvPr>
          <p:cNvSpPr txBox="1"/>
          <p:nvPr/>
        </p:nvSpPr>
        <p:spPr>
          <a:xfrm>
            <a:off x="5785338" y="3188314"/>
            <a:ext cx="259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>
                <a:latin typeface="+mj-lt"/>
              </a:rPr>
              <a:t>[4]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B8ACF9-0D5D-BD12-DCE4-3634E6644E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0795" y="3678383"/>
            <a:ext cx="3658885" cy="22480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7FE73E9-60FF-B565-D2D1-98346952F789}"/>
              </a:ext>
            </a:extLst>
          </p:cNvPr>
          <p:cNvSpPr txBox="1"/>
          <p:nvPr/>
        </p:nvSpPr>
        <p:spPr>
          <a:xfrm>
            <a:off x="6433038" y="5897220"/>
            <a:ext cx="1295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400">
                <a:latin typeface="+mj-lt"/>
              </a:rPr>
              <a:t>[6]</a:t>
            </a:r>
          </a:p>
        </p:txBody>
      </p:sp>
    </p:spTree>
    <p:extLst>
      <p:ext uri="{BB962C8B-B14F-4D97-AF65-F5344CB8AC3E}">
        <p14:creationId xmlns:p14="http://schemas.microsoft.com/office/powerpoint/2010/main" val="1528597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19B4E-5C13-3C5B-6797-10546A65C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Objetivos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D2732-290B-7751-9EDF-22641B95C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2107"/>
            <a:ext cx="8388307" cy="5161279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s-ES"/>
              <a:t>Analizar y entender señales EMG </a:t>
            </a:r>
            <a:r>
              <a:rPr lang="es-ES" err="1"/>
              <a:t>reinervadas</a:t>
            </a:r>
            <a:endParaRPr lang="es-ES"/>
          </a:p>
          <a:p>
            <a:pPr marL="571500" indent="-571500">
              <a:buFont typeface="+mj-lt"/>
              <a:buAutoNum type="romanUcPeriod"/>
            </a:pPr>
            <a:endParaRPr lang="es-ES"/>
          </a:p>
          <a:p>
            <a:pPr marL="571500" indent="-571500">
              <a:buFont typeface="+mj-lt"/>
              <a:buAutoNum type="romanUcPeriod"/>
            </a:pPr>
            <a:r>
              <a:rPr lang="es-ES"/>
              <a:t>Discutir algoritmos de separación. </a:t>
            </a:r>
          </a:p>
          <a:p>
            <a:pPr marL="571500" indent="-571500">
              <a:buFont typeface="+mj-lt"/>
              <a:buAutoNum type="romanUcPeriod"/>
            </a:pPr>
            <a:endParaRPr lang="es-ES"/>
          </a:p>
          <a:p>
            <a:pPr marL="571500" indent="-571500">
              <a:buFont typeface="+mj-lt"/>
              <a:buAutoNum type="romanUcPeriod"/>
            </a:pPr>
            <a:r>
              <a:rPr lang="es-ES"/>
              <a:t>Simular y probar en entornos controlados y datos reales</a:t>
            </a:r>
          </a:p>
          <a:p>
            <a:pPr marL="571500" indent="-571500">
              <a:buFont typeface="+mj-lt"/>
              <a:buAutoNum type="romanUcPeriod"/>
            </a:pPr>
            <a:endParaRPr lang="es-ES"/>
          </a:p>
          <a:p>
            <a:pPr marL="571500" indent="-571500">
              <a:buFont typeface="+mj-lt"/>
              <a:buAutoNum type="romanUcPeriod"/>
            </a:pPr>
            <a:r>
              <a:rPr lang="es-ES"/>
              <a:t>Implementación en vivo -&gt; </a:t>
            </a:r>
            <a:r>
              <a:rPr lang="es-ES" b="1"/>
              <a:t>Online/Causal</a:t>
            </a:r>
          </a:p>
        </p:txBody>
      </p:sp>
    </p:spTree>
    <p:extLst>
      <p:ext uri="{BB962C8B-B14F-4D97-AF65-F5344CB8AC3E}">
        <p14:creationId xmlns:p14="http://schemas.microsoft.com/office/powerpoint/2010/main" val="1234061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93ED4-1F73-4694-2C98-156A9232DA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/>
              <a:t>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2E41A7-9013-E7FA-96D7-D1C2384511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/>
              <a:t>Plan de trabajo y recursos</a:t>
            </a:r>
          </a:p>
        </p:txBody>
      </p:sp>
    </p:spTree>
    <p:extLst>
      <p:ext uri="{BB962C8B-B14F-4D97-AF65-F5344CB8AC3E}">
        <p14:creationId xmlns:p14="http://schemas.microsoft.com/office/powerpoint/2010/main" val="1035866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07E0D-1D16-8F8F-0638-380402E29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Planificación vs Estado Actual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814B6D1-E5A2-71BA-EB15-39078AB60B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6653486"/>
              </p:ext>
            </p:extLst>
          </p:nvPr>
        </p:nvGraphicFramePr>
        <p:xfrm>
          <a:off x="692703" y="3464169"/>
          <a:ext cx="7912100" cy="286004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3956050">
                  <a:extLst>
                    <a:ext uri="{9D8B030D-6E8A-4147-A177-3AD203B41FA5}">
                      <a16:colId xmlns:a16="http://schemas.microsoft.com/office/drawing/2014/main" val="2967779085"/>
                    </a:ext>
                  </a:extLst>
                </a:gridCol>
                <a:gridCol w="3956050">
                  <a:extLst>
                    <a:ext uri="{9D8B030D-6E8A-4147-A177-3AD203B41FA5}">
                      <a16:colId xmlns:a16="http://schemas.microsoft.com/office/drawing/2014/main" val="2252277403"/>
                    </a:ext>
                  </a:extLst>
                </a:gridCol>
              </a:tblGrid>
              <a:tr h="2946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Anexo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Estado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9924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Preprocesamiento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Implementado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714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Implementado y validado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5972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SOBI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Implementado y validado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2514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err="1"/>
                        <a:t>Semi-ciega</a:t>
                      </a:r>
                      <a:r>
                        <a:rPr lang="es-ES"/>
                        <a:t>/referencia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Optimizando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9986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Adiciones (</a:t>
                      </a:r>
                      <a:r>
                        <a:rPr lang="es-ES" dirty="0" err="1"/>
                        <a:t>conv</a:t>
                      </a:r>
                      <a:r>
                        <a:rPr lang="es-ES" dirty="0"/>
                        <a:t> ICA e implementación en vivo)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En desarrollo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3279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Análisis en nuevos datos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Por especificar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9334886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49221E49-B589-D5C9-42B8-FB4103317B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703" y="914400"/>
            <a:ext cx="7925906" cy="2353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721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E9034-5DDD-4D58-D704-559C6D878C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/>
              <a:t>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C7BF9E-6DCB-2F79-3CCE-22E053BCD0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/>
              <a:t>Trabajo desarrollado</a:t>
            </a:r>
          </a:p>
        </p:txBody>
      </p:sp>
    </p:spTree>
    <p:extLst>
      <p:ext uri="{BB962C8B-B14F-4D97-AF65-F5344CB8AC3E}">
        <p14:creationId xmlns:p14="http://schemas.microsoft.com/office/powerpoint/2010/main" val="8525645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B9D95-1219-AF72-69BE-82C3376CC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Bases de datos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3613B-F58F-39BB-9E09-226E77BA0A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192105"/>
            <a:ext cx="7912188" cy="5161279"/>
          </a:xfrm>
        </p:spPr>
        <p:txBody>
          <a:bodyPr/>
          <a:lstStyle/>
          <a:p>
            <a:r>
              <a:rPr lang="es-ES" sz="2800" dirty="0"/>
              <a:t>Base de amputados </a:t>
            </a:r>
            <a:r>
              <a:rPr lang="es-ES" sz="2800" dirty="0" err="1"/>
              <a:t>transradiales</a:t>
            </a:r>
            <a:endParaRPr lang="es-ES" sz="2800" dirty="0"/>
          </a:p>
          <a:p>
            <a:pPr lvl="1"/>
            <a:r>
              <a:rPr lang="es-ES" sz="2267" dirty="0"/>
              <a:t>32 canales  a 1 kHz</a:t>
            </a:r>
          </a:p>
          <a:p>
            <a:pPr lvl="1"/>
            <a:r>
              <a:rPr lang="es-ES" sz="2267" dirty="0"/>
              <a:t>Pacientes de TMR</a:t>
            </a:r>
          </a:p>
          <a:p>
            <a:pPr lvl="1"/>
            <a:r>
              <a:rPr lang="es-ES" sz="2267" dirty="0"/>
              <a:t>Existen grabaciones pre y post</a:t>
            </a:r>
            <a:endParaRPr lang="es-ES" sz="2800" dirty="0"/>
          </a:p>
          <a:p>
            <a:r>
              <a:rPr lang="es-ES" sz="2800" dirty="0"/>
              <a:t>Base artificial (Python)</a:t>
            </a:r>
          </a:p>
          <a:p>
            <a:pPr lvl="1"/>
            <a:r>
              <a:rPr lang="es-ES" sz="2267" dirty="0"/>
              <a:t>Señales tipo EMG simuladas</a:t>
            </a:r>
          </a:p>
          <a:p>
            <a:pPr lvl="1"/>
            <a:r>
              <a:rPr lang="es-ES" sz="2267" dirty="0"/>
              <a:t>Basado en modulación AM</a:t>
            </a:r>
          </a:p>
          <a:p>
            <a:pPr lvl="1"/>
            <a:r>
              <a:rPr lang="es-ES" sz="2267" dirty="0"/>
              <a:t>Pruebas específicas</a:t>
            </a:r>
          </a:p>
          <a:p>
            <a:pPr lvl="1"/>
            <a:endParaRPr lang="es-ES" sz="2800" dirty="0"/>
          </a:p>
          <a:p>
            <a:r>
              <a:rPr lang="es-ES" sz="2800" dirty="0"/>
              <a:t>Base experimental</a:t>
            </a:r>
          </a:p>
          <a:p>
            <a:pPr marL="0" indent="0">
              <a:buNone/>
            </a:pPr>
            <a:r>
              <a:rPr lang="es-ES" sz="2400" dirty="0"/>
              <a:t>(Pendiente de permiso)</a:t>
            </a:r>
          </a:p>
          <a:p>
            <a:pPr lvl="1"/>
            <a:endParaRPr lang="es-ES" sz="2400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pPr marL="0" indent="0">
              <a:buNone/>
            </a:pPr>
            <a:endParaRPr lang="es-E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871BAB-4D66-E086-BD7B-FD9D7CA62C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1305206"/>
            <a:ext cx="3313471" cy="42475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B48F71F-A61F-D023-7877-CF8B4BB11FCF}"/>
              </a:ext>
            </a:extLst>
          </p:cNvPr>
          <p:cNvSpPr txBox="1"/>
          <p:nvPr/>
        </p:nvSpPr>
        <p:spPr>
          <a:xfrm>
            <a:off x="6533535" y="5529886"/>
            <a:ext cx="152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>
                <a:latin typeface="+mn-lt"/>
              </a:rPr>
              <a:t>[7]</a:t>
            </a:r>
          </a:p>
        </p:txBody>
      </p:sp>
    </p:spTree>
    <p:extLst>
      <p:ext uri="{BB962C8B-B14F-4D97-AF65-F5344CB8AC3E}">
        <p14:creationId xmlns:p14="http://schemas.microsoft.com/office/powerpoint/2010/main" val="29581480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7C51D-89A0-22EE-4923-AEC92D4CC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Preprocesamiento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42DBC49D-B382-80E9-25EC-B7DC816E19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496" y="1167381"/>
            <a:ext cx="7912100" cy="7313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8ED83D-5F49-7C0B-1791-2752B79406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197451"/>
            <a:ext cx="5793317" cy="1752600"/>
          </a:xfrm>
          <a:prstGeom prst="rect">
            <a:avLst/>
          </a:prstGeom>
        </p:spPr>
      </p:pic>
      <p:pic>
        <p:nvPicPr>
          <p:cNvPr id="1026" name="Picture 2" descr="The Statistical Whitening Transform | The OG Clever Machine">
            <a:extLst>
              <a:ext uri="{FF2B5EF4-FFF2-40B4-BE49-F238E27FC236}">
                <a16:creationId xmlns:a16="http://schemas.microsoft.com/office/drawing/2014/main" id="{D470DD50-C14B-1673-F3B6-6834F756A7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1968851"/>
            <a:ext cx="1258429" cy="396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801E778-1ACD-0D7A-9469-ED9BAF4E92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329" y="4133658"/>
            <a:ext cx="5827239" cy="18344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3A5FED2-576E-E532-AB71-86843E56C148}"/>
              </a:ext>
            </a:extLst>
          </p:cNvPr>
          <p:cNvSpPr txBox="1"/>
          <p:nvPr/>
        </p:nvSpPr>
        <p:spPr>
          <a:xfrm>
            <a:off x="7083651" y="5931251"/>
            <a:ext cx="1143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>
                <a:latin typeface="+mj-lt"/>
              </a:rPr>
              <a:t>[8]</a:t>
            </a:r>
          </a:p>
        </p:txBody>
      </p:sp>
    </p:spTree>
    <p:extLst>
      <p:ext uri="{BB962C8B-B14F-4D97-AF65-F5344CB8AC3E}">
        <p14:creationId xmlns:p14="http://schemas.microsoft.com/office/powerpoint/2010/main" val="2693354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DD1C6-B739-33B8-7406-C70265C9A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Modelaje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68C652-078B-0985-DC86-646FD19624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8600" y="1192107"/>
                <a:ext cx="8616907" cy="5161279"/>
              </a:xfrm>
            </p:spPr>
            <p:txBody>
              <a:bodyPr/>
              <a:lstStyle/>
              <a:p>
                <a:r>
                  <a:rPr lang="es-ES">
                    <a:latin typeface="+mn-lt"/>
                  </a:rPr>
                  <a:t>Mezclas </a:t>
                </a:r>
                <a:r>
                  <a:rPr lang="en-US">
                    <a:latin typeface="+mn-lt"/>
                  </a:rPr>
                  <a:t>se</a:t>
                </a:r>
                <a:r>
                  <a:rPr lang="es-ES">
                    <a:latin typeface="+mn-lt"/>
                  </a:rPr>
                  <a:t> pueden representar como:</a:t>
                </a:r>
              </a:p>
              <a:p>
                <a:pPr marL="0" indent="0">
                  <a:buNone/>
                </a:pPr>
                <a:endParaRPr lang="es-ES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s-ES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𝑐𝑜𝑙𝑔𝑎𝑗𝑜</m:t>
                                  </m:r>
                                </m:sub>
                              </m:s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𝑐𝑐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𝑐𝑜𝑙𝑔𝑎𝑗𝑜</m:t>
                                  </m:r>
                                </m:sub>
                              </m:s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𝑐𝑑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𝑑𝑜𝑛𝑎𝑛𝑡𝑒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E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d>
                              <m: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𝑑𝑜𝑛𝑎𝑛𝑡𝑒</m:t>
                                  </m:r>
                                </m:sub>
                              </m:s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𝑑𝑐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𝑐𝑜𝑙𝑔𝑎𝑗𝑜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E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d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𝑑𝑑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𝑑𝑜𝑛𝑎𝑛𝑡𝑒</m:t>
                                  </m:r>
                                </m:sub>
                              </m:s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s-ES"/>
              </a:p>
              <a:p>
                <a:r>
                  <a:rPr lang="es-ES"/>
                  <a:t> Mezcla </a:t>
                </a:r>
                <a:r>
                  <a:rPr lang="es-ES" b="1"/>
                  <a:t>lineal </a:t>
                </a:r>
                <a:r>
                  <a:rPr lang="es-ES" b="1" err="1"/>
                  <a:t>convolutiva</a:t>
                </a:r>
                <a:endParaRPr lang="es-ES" b="1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2−10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𝑚𝑠</m:t>
                    </m:r>
                  </m:oMath>
                </a14:m>
                <a:r>
                  <a:rPr lang="es-ES" b="0"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(0,</m:t>
                    </m:r>
                    <m:sSup>
                      <m:sSupPr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ES" b="0">
                    <a:ea typeface="Cambria Math" panose="02040503050406030204" pitchFamily="18" charset="0"/>
                  </a:rPr>
                  <a:t> </a:t>
                </a:r>
                <a:r>
                  <a:rPr lang="es-ES" sz="2800" b="0">
                    <a:ea typeface="Cambria Math" panose="02040503050406030204" pitchFamily="18" charset="0"/>
                  </a:rPr>
                  <a:t>[9] </a:t>
                </a:r>
              </a:p>
              <a:p>
                <a:r>
                  <a:rPr lang="es-ES"/>
                  <a:t>Discusión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𝑑𝑑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𝑑𝑐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𝑐𝑑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𝑐𝑐</m:t>
                        </m:r>
                      </m:sub>
                    </m:sSub>
                  </m:oMath>
                </a14:m>
                <a:endParaRPr lang="es-ES" b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𝑑𝑐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𝑑𝑑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𝑐𝑑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s-ES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𝑐𝑐</m:t>
                        </m:r>
                      </m:sub>
                    </m:sSub>
                  </m:oMath>
                </a14:m>
                <a:r>
                  <a:rPr lang="es-ES" b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𝑐𝑐</m:t>
                        </m:r>
                      </m:sub>
                    </m:sSub>
                    <m:r>
                      <a:rPr lang="es-E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𝑑𝑑</m:t>
                        </m:r>
                      </m:sub>
                    </m:sSub>
                    <m:r>
                      <a:rPr lang="es-E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endParaRPr lang="es-ES" b="0"/>
              </a:p>
              <a:p>
                <a:pPr lvl="1"/>
                <a:r>
                  <a:rPr lang="es-ES"/>
                  <a:t>¿Regresión?</a:t>
                </a:r>
                <a:endParaRPr lang="es-ES" b="0"/>
              </a:p>
              <a:p>
                <a:endParaRPr lang="es-ES" b="0"/>
              </a:p>
              <a:p>
                <a:endParaRPr lang="es-E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68C652-078B-0985-DC86-646FD19624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192107"/>
                <a:ext cx="8616907" cy="5161279"/>
              </a:xfrm>
              <a:blipFill>
                <a:blip r:embed="rId3"/>
                <a:stretch>
                  <a:fillRect l="-1628" t="-2482" r="-1769" b="-43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1340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938FC-EB92-585B-D6BC-8650A932B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ICA – Independencia estadística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3F112-71E6-FCF9-048C-6AD02020F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319" y="1134152"/>
            <a:ext cx="7912188" cy="5161279"/>
          </a:xfrm>
        </p:spPr>
        <p:txBody>
          <a:bodyPr/>
          <a:lstStyle/>
          <a:p>
            <a:r>
              <a:rPr lang="es-ES"/>
              <a:t>Requisitos</a:t>
            </a:r>
          </a:p>
          <a:p>
            <a:pPr lvl="1"/>
            <a:r>
              <a:rPr lang="es-ES"/>
              <a:t>Fuentes relativamente independientes</a:t>
            </a:r>
          </a:p>
          <a:p>
            <a:pPr lvl="1"/>
            <a:r>
              <a:rPr lang="es-ES"/>
              <a:t>Máximo una fuente gaussiana</a:t>
            </a:r>
          </a:p>
          <a:p>
            <a:pPr lvl="1"/>
            <a:r>
              <a:rPr lang="es-ES"/>
              <a:t>Mezcla </a:t>
            </a:r>
            <a:r>
              <a:rPr lang="es-ES" b="1"/>
              <a:t>lineal e instantánea* </a:t>
            </a:r>
          </a:p>
          <a:p>
            <a:r>
              <a:rPr lang="es-ES"/>
              <a:t>Indeterminaciones:</a:t>
            </a:r>
          </a:p>
          <a:p>
            <a:pPr lvl="1"/>
            <a:r>
              <a:rPr lang="es-ES"/>
              <a:t>Orden de fuentes (Problema de la permutación)</a:t>
            </a:r>
          </a:p>
          <a:p>
            <a:pPr lvl="1"/>
            <a:r>
              <a:rPr lang="es-ES"/>
              <a:t>Escala </a:t>
            </a:r>
          </a:p>
          <a:p>
            <a:pPr lvl="1"/>
            <a:r>
              <a:rPr lang="es-ES"/>
              <a:t>Signo</a:t>
            </a:r>
          </a:p>
          <a:p>
            <a:r>
              <a:rPr lang="es-ES"/>
              <a:t>Algoritmos</a:t>
            </a:r>
          </a:p>
          <a:p>
            <a:pPr lvl="1"/>
            <a:r>
              <a:rPr lang="es-ES"/>
              <a:t>Principalmente </a:t>
            </a:r>
            <a:r>
              <a:rPr lang="es-ES" err="1"/>
              <a:t>FastICA</a:t>
            </a:r>
            <a:endParaRPr lang="es-ES"/>
          </a:p>
          <a:p>
            <a:pPr lvl="1"/>
            <a:r>
              <a:rPr lang="es-ES" err="1"/>
              <a:t>Infomax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533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4B289-6A50-E4C9-FC31-F20113600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ICA – Independencia estadística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FD2D6D-09AC-B9AC-3668-5DCF1BC9DA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3319" y="1097281"/>
                <a:ext cx="3257681" cy="5161279"/>
              </a:xfrm>
            </p:spPr>
            <p:txBody>
              <a:bodyPr/>
              <a:lstStyle/>
              <a:p>
                <a:r>
                  <a:rPr lang="es-ES"/>
                  <a:t>Mejor caso </a:t>
                </a:r>
              </a:p>
              <a:p>
                <a:pPr lvl="1"/>
                <a:r>
                  <a:rPr lang="es-ES"/>
                  <a:t>No ruido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es-E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≈0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𝑚𝑠</m:t>
                    </m:r>
                  </m:oMath>
                </a14:m>
                <a:endParaRPr lang="es-ES" b="0">
                  <a:ea typeface="Cambria Math" panose="02040503050406030204" pitchFamily="18" charset="0"/>
                </a:endParaRPr>
              </a:p>
              <a:p>
                <a:pPr lvl="1"/>
                <a:endParaRPr lang="es-ES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FD2D6D-09AC-B9AC-3668-5DCF1BC9DA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3319" y="1097281"/>
                <a:ext cx="3257681" cy="5161279"/>
              </a:xfrm>
              <a:blipFill>
                <a:blip r:embed="rId3"/>
                <a:stretch>
                  <a:fillRect l="-4299" t="-2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42FA97A7-7E3D-B1D4-8350-48CFF3E7E7A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89413" y="1097280"/>
                <a:ext cx="3257681" cy="516127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594" indent="-228594" algn="l" defTabSz="914377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667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133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j-lt"/>
                    <a:ea typeface="+mn-ea"/>
                    <a:cs typeface="+mn-cs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Aft>
                    <a:spcPts val="0"/>
                  </a:spcAft>
                </a:pPr>
                <a:r>
                  <a:rPr lang="es-ES"/>
                  <a:t> Caso real</a:t>
                </a:r>
              </a:p>
              <a:p>
                <a:pPr lvl="1" fontAlgn="auto"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𝑟𝑢𝑖𝑑𝑜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(0,</m:t>
                    </m:r>
                    <m:sSup>
                      <m:sSupPr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s-ES"/>
              </a:p>
              <a:p>
                <a:pPr lvl="1" fontAlgn="auto"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es-E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≈2−10 </m:t>
                    </m:r>
                    <m:r>
                      <a:rPr lang="es-E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𝑚𝑠</m:t>
                    </m:r>
                  </m:oMath>
                </a14:m>
                <a:endParaRPr lang="es-ES">
                  <a:ea typeface="Cambria Math" panose="02040503050406030204" pitchFamily="18" charset="0"/>
                </a:endParaRPr>
              </a:p>
              <a:p>
                <a:pPr lvl="1" fontAlgn="auto">
                  <a:spcAft>
                    <a:spcPts val="0"/>
                  </a:spcAft>
                </a:pPr>
                <a:endParaRPr lang="es-ES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42FA97A7-7E3D-B1D4-8350-48CFF3E7E7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9413" y="1097280"/>
                <a:ext cx="3257681" cy="5161279"/>
              </a:xfrm>
              <a:prstGeom prst="rect">
                <a:avLst/>
              </a:prstGeom>
              <a:blipFill>
                <a:blip r:embed="rId4"/>
                <a:stretch>
                  <a:fillRect l="-4307" t="-2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E6AC97B7-3E88-B31F-88E5-2C1E826634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749" y="2667002"/>
            <a:ext cx="4460018" cy="359155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F45568E-B555-DAE9-31F8-D5BA474E668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2667001"/>
            <a:ext cx="4460021" cy="3591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5321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C7AE1-4FAA-52DE-0FF8-C2F846343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SOBI – Independencia Temporal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751F0-A15E-B463-6B6A-4BF134DCB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319" y="848360"/>
            <a:ext cx="7912188" cy="5161279"/>
          </a:xfrm>
        </p:spPr>
        <p:txBody>
          <a:bodyPr/>
          <a:lstStyle/>
          <a:p>
            <a:r>
              <a:rPr lang="es-ES"/>
              <a:t>Compara autocorrelación</a:t>
            </a:r>
          </a:p>
          <a:p>
            <a:pPr lvl="1"/>
            <a:r>
              <a:rPr lang="es-ES"/>
              <a:t>Requiere estructuras temporales diferentes</a:t>
            </a:r>
          </a:p>
          <a:p>
            <a:pPr lvl="1"/>
            <a:r>
              <a:rPr lang="es-ES"/>
              <a:t>Diferentes patrones, frecuencia, …</a:t>
            </a:r>
          </a:p>
          <a:p>
            <a:r>
              <a:rPr lang="es-ES"/>
              <a:t>¡Problema! (Base TMR)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AEC9E9-633E-8611-655C-0056D9DE1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2743200"/>
            <a:ext cx="678864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4676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6EFE7-A9D2-3F3E-B323-0EFF57334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SOBI – Independencia Temporal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A3880-7AD0-F0A2-3D73-A027282D4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319" y="905579"/>
            <a:ext cx="8083507" cy="5161279"/>
          </a:xfrm>
        </p:spPr>
        <p:txBody>
          <a:bodyPr/>
          <a:lstStyle/>
          <a:p>
            <a:pPr marL="0" indent="0">
              <a:buNone/>
            </a:pPr>
            <a:r>
              <a:rPr lang="es-ES"/>
              <a:t>Caso óptimo: Músculos diferentes (</a:t>
            </a:r>
            <a:r>
              <a:rPr lang="es-ES" err="1"/>
              <a:t>Pec</a:t>
            </a:r>
            <a:r>
              <a:rPr lang="es-ES"/>
              <a:t> vs brazo)</a:t>
            </a:r>
          </a:p>
          <a:p>
            <a:pPr lvl="1"/>
            <a:r>
              <a:rPr lang="es-ES"/>
              <a:t>Autocorrelación más diferenciada</a:t>
            </a:r>
          </a:p>
          <a:p>
            <a:pPr lvl="1"/>
            <a:r>
              <a:rPr lang="es-ES"/>
              <a:t>Duración temporal y frecuencia distinta [9] </a:t>
            </a:r>
          </a:p>
          <a:p>
            <a:pPr marL="0" indent="0">
              <a:buNone/>
            </a:pPr>
            <a:r>
              <a:rPr lang="es-ES"/>
              <a:t>Prueba artificial (</a:t>
            </a:r>
            <a:r>
              <a:rPr lang="es-ES" err="1"/>
              <a:t>ruido+retardo</a:t>
            </a:r>
            <a:r>
              <a:rPr lang="es-ES"/>
              <a:t>) </a:t>
            </a:r>
          </a:p>
          <a:p>
            <a:pPr marL="457189" lvl="1" indent="0">
              <a:buNone/>
            </a:pPr>
            <a:r>
              <a:rPr lang="es-ES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6EDD51-68B3-D3AC-EE4A-4566051B13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2320" y="2895601"/>
            <a:ext cx="652278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4812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123BE-4A99-D2CB-1284-6C165355A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Separación </a:t>
            </a:r>
            <a:r>
              <a:rPr lang="es-ES" err="1"/>
              <a:t>semi-ciega</a:t>
            </a:r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CD2290-4702-4CF7-EFF7-71B297F6EF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84072" y="990600"/>
                <a:ext cx="8210681" cy="5591386"/>
              </a:xfrm>
            </p:spPr>
            <p:txBody>
              <a:bodyPr/>
              <a:lstStyle/>
              <a:p>
                <a:r>
                  <a:rPr lang="es-ES" dirty="0"/>
                  <a:t>Idea: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s-ES" sz="28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s-ES" sz="28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s-ES" sz="280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s-ES" sz="2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lim>
                        </m:limLow>
                      </m:fName>
                      <m:e>
                        <m:r>
                          <a:rPr lang="es-ES" sz="2800" b="0" i="1" smtClean="0">
                            <a:latin typeface="Cambria Math" panose="02040503050406030204" pitchFamily="18" charset="0"/>
                          </a:rPr>
                          <m:t>𝐼𝑛𝑑𝑒𝑝𝑒𝑛𝑑𝑒𝑛𝑐𝑖𝑎</m:t>
                        </m:r>
                        <m:r>
                          <a:rPr lang="es-E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s-E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sz="2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</m:func>
                    <m:r>
                      <a:rPr lang="es-ES" sz="28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s-ES" sz="28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s-ES" sz="2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s-ES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sz="2800" b="0" i="1" smtClean="0">
                        <a:latin typeface="Cambria Math" panose="02040503050406030204" pitchFamily="18" charset="0"/>
                      </a:rPr>
                      <m:t>𝑟𝑒𝑠𝑡𝑟𝑖𝑐𝑐𝑖𝑜𝑛𝑒𝑠</m:t>
                    </m:r>
                  </m:oMath>
                </a14:m>
                <a:r>
                  <a:rPr lang="es-ES" sz="2800" dirty="0"/>
                  <a:t> [10]</a:t>
                </a:r>
              </a:p>
              <a:p>
                <a:r>
                  <a:rPr lang="es-ES" sz="2800" dirty="0"/>
                  <a:t>Posibles restricciones:</a:t>
                </a:r>
              </a:p>
              <a:p>
                <a:pPr lvl="1"/>
                <a:r>
                  <a:rPr lang="es-ES" sz="2267" dirty="0"/>
                  <a:t>Correlación con referencia (actualmente resultados similares)</a:t>
                </a:r>
              </a:p>
              <a:p>
                <a:pPr marL="457189" lvl="1" indent="0">
                  <a:buNone/>
                </a:pPr>
                <a:r>
                  <a:rPr lang="es-ES" sz="2267" dirty="0"/>
                  <a:t> </a:t>
                </a:r>
              </a:p>
              <a:p>
                <a:pPr lvl="1"/>
                <a:r>
                  <a:rPr lang="es-ES" sz="2267" dirty="0"/>
                  <a:t>Correlación y </a:t>
                </a:r>
                <a:r>
                  <a:rPr lang="es-ES" sz="2267" dirty="0" err="1"/>
                  <a:t>Kernel</a:t>
                </a:r>
                <a:r>
                  <a:rPr lang="es-ES" sz="2267" dirty="0"/>
                  <a:t> a referencia [2]</a:t>
                </a:r>
              </a:p>
              <a:p>
                <a:pPr lvl="1"/>
                <a:endParaRPr lang="es-ES" sz="2267" dirty="0"/>
              </a:p>
              <a:p>
                <a:pPr lvl="1"/>
                <a:r>
                  <a:rPr lang="es-ES" sz="2267" dirty="0"/>
                  <a:t>Otro tipo de restricciones (espaciales, fisiológicas…)</a:t>
                </a:r>
              </a:p>
              <a:p>
                <a:r>
                  <a:rPr lang="es-ES" sz="2800" dirty="0"/>
                  <a:t>Integrar información fisiológica podría mejorar la separación.</a:t>
                </a:r>
              </a:p>
              <a:p>
                <a:r>
                  <a:rPr lang="es-ES" sz="2800" dirty="0"/>
                  <a:t>¡OJO! Donde ICA sea óptimo, las restricciones pueden aportar poco</a:t>
                </a:r>
              </a:p>
              <a:p>
                <a:pPr lvl="1"/>
                <a:endParaRPr lang="es-ES" sz="2267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CD2290-4702-4CF7-EFF7-71B297F6EF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4072" y="990600"/>
                <a:ext cx="8210681" cy="5591386"/>
              </a:xfrm>
              <a:blipFill>
                <a:blip r:embed="rId3"/>
                <a:stretch>
                  <a:fillRect l="-1707" t="-2290" r="-8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24066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E6411-8A33-0629-F682-F403B39EA3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/>
              <a:t>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9C4A06-FAA1-D4F5-77F6-80337885E3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/>
              <a:t>Conclusiones</a:t>
            </a:r>
          </a:p>
        </p:txBody>
      </p:sp>
    </p:spTree>
    <p:extLst>
      <p:ext uri="{BB962C8B-B14F-4D97-AF65-F5344CB8AC3E}">
        <p14:creationId xmlns:p14="http://schemas.microsoft.com/office/powerpoint/2010/main" val="5913111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C3288-C6D9-676C-B685-D80F434C6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Conclusiones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45355-0BB4-60B0-5B78-CA58D356C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319" y="838201"/>
            <a:ext cx="7982082" cy="5515186"/>
          </a:xfrm>
        </p:spPr>
        <p:txBody>
          <a:bodyPr/>
          <a:lstStyle/>
          <a:p>
            <a:r>
              <a:rPr lang="es-ES"/>
              <a:t>Se ha reajustado la planificación, mayor importancia a separación </a:t>
            </a:r>
            <a:r>
              <a:rPr lang="es-ES" err="1"/>
              <a:t>semi-ciega</a:t>
            </a:r>
            <a:endParaRPr lang="es-ES"/>
          </a:p>
          <a:p>
            <a:r>
              <a:rPr lang="es-ES"/>
              <a:t>Valoraciones</a:t>
            </a:r>
          </a:p>
          <a:p>
            <a:pPr lvl="1"/>
            <a:r>
              <a:rPr lang="es-ES"/>
              <a:t>BSS buena perspectiva para EMG</a:t>
            </a:r>
          </a:p>
          <a:p>
            <a:pPr lvl="1"/>
            <a:r>
              <a:rPr lang="es-ES" err="1"/>
              <a:t>Semi-ciega</a:t>
            </a:r>
            <a:r>
              <a:rPr lang="es-ES"/>
              <a:t> mejor enfoque personalizado</a:t>
            </a:r>
          </a:p>
          <a:p>
            <a:r>
              <a:rPr lang="es-ES"/>
              <a:t>Aspectos técnicos</a:t>
            </a:r>
          </a:p>
          <a:p>
            <a:pPr lvl="1"/>
            <a:r>
              <a:rPr lang="es-ES"/>
              <a:t>Compromiso separación y escala (RMS)</a:t>
            </a:r>
          </a:p>
          <a:p>
            <a:pPr lvl="1"/>
            <a:r>
              <a:rPr lang="es-ES"/>
              <a:t>Naturaleza de EMG factor influyente</a:t>
            </a:r>
          </a:p>
          <a:p>
            <a:pPr lvl="1"/>
            <a:r>
              <a:rPr lang="es-ES"/>
              <a:t>Ruido y matriz de mezclas factores clave</a:t>
            </a:r>
          </a:p>
          <a:p>
            <a:pPr lvl="1"/>
            <a:r>
              <a:rPr lang="es-ES"/>
              <a:t>Incluir información fisiológica promete mejorar la separación en casos no triviales</a:t>
            </a:r>
          </a:p>
          <a:p>
            <a:r>
              <a:rPr lang="es-ES"/>
              <a:t>El proyecto cumple con las expectativas</a:t>
            </a:r>
          </a:p>
        </p:txBody>
      </p:sp>
    </p:spTree>
    <p:extLst>
      <p:ext uri="{BB962C8B-B14F-4D97-AF65-F5344CB8AC3E}">
        <p14:creationId xmlns:p14="http://schemas.microsoft.com/office/powerpoint/2010/main" val="22157558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BFA63-833D-EA05-4CB9-12BD006B4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REFERENCIAS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F6C6E-CBF9-3424-00E9-C5BFDB8E9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319" y="848360"/>
            <a:ext cx="7912188" cy="5476240"/>
          </a:xfrm>
        </p:spPr>
        <p:txBody>
          <a:bodyPr/>
          <a:lstStyle/>
          <a:p>
            <a:pPr marL="0" indent="0">
              <a:buNone/>
            </a:pPr>
            <a:r>
              <a:rPr lang="es-ES" sz="2000"/>
              <a:t>[1] Clifford, MIT, 2008</a:t>
            </a:r>
          </a:p>
          <a:p>
            <a:pPr marL="0" indent="0">
              <a:buNone/>
            </a:pPr>
            <a:r>
              <a:rPr lang="es-ES" sz="2000"/>
              <a:t>[2] M. Chen </a:t>
            </a:r>
            <a:r>
              <a:rPr lang="es-ES" sz="2000" i="1"/>
              <a:t>et al.</a:t>
            </a:r>
            <a:r>
              <a:rPr lang="es-ES" sz="2000"/>
              <a:t>, “2CFastICA: A novel </a:t>
            </a:r>
            <a:r>
              <a:rPr lang="es-ES" sz="2000" err="1"/>
              <a:t>method</a:t>
            </a:r>
            <a:r>
              <a:rPr lang="es-ES" sz="2000"/>
              <a:t> </a:t>
            </a:r>
            <a:r>
              <a:rPr lang="es-ES" sz="2000" err="1"/>
              <a:t>for</a:t>
            </a:r>
            <a:r>
              <a:rPr lang="es-ES" sz="2000"/>
              <a:t> </a:t>
            </a:r>
            <a:r>
              <a:rPr lang="es-ES" sz="2000" err="1"/>
              <a:t>high</a:t>
            </a:r>
            <a:r>
              <a:rPr lang="es-ES" sz="2000"/>
              <a:t> </a:t>
            </a:r>
            <a:r>
              <a:rPr lang="es-ES" sz="2000" err="1"/>
              <a:t>density</a:t>
            </a:r>
            <a:r>
              <a:rPr lang="es-ES" sz="2000"/>
              <a:t> </a:t>
            </a:r>
            <a:r>
              <a:rPr lang="es-ES" sz="2000" err="1"/>
              <a:t>surface</a:t>
            </a:r>
            <a:r>
              <a:rPr lang="es-ES" sz="2000"/>
              <a:t> EMG </a:t>
            </a:r>
            <a:r>
              <a:rPr lang="es-ES" sz="2000" err="1"/>
              <a:t>decomposition</a:t>
            </a:r>
            <a:r>
              <a:rPr lang="es-ES" sz="2000"/>
              <a:t> </a:t>
            </a:r>
            <a:r>
              <a:rPr lang="es-ES" sz="2000" err="1"/>
              <a:t>based</a:t>
            </a:r>
            <a:r>
              <a:rPr lang="es-ES" sz="2000"/>
              <a:t> </a:t>
            </a:r>
            <a:r>
              <a:rPr lang="es-ES" sz="2000" err="1"/>
              <a:t>on</a:t>
            </a:r>
            <a:r>
              <a:rPr lang="es-ES" sz="2000"/>
              <a:t> </a:t>
            </a:r>
            <a:r>
              <a:rPr lang="es-ES" sz="2000" err="1"/>
              <a:t>kernel</a:t>
            </a:r>
            <a:r>
              <a:rPr lang="es-ES" sz="2000"/>
              <a:t> </a:t>
            </a:r>
            <a:r>
              <a:rPr lang="es-ES" sz="2000" err="1"/>
              <a:t>constrained</a:t>
            </a:r>
            <a:r>
              <a:rPr lang="es-ES" sz="2000"/>
              <a:t> </a:t>
            </a:r>
            <a:r>
              <a:rPr lang="es-ES" sz="2000" err="1"/>
              <a:t>FastICA</a:t>
            </a:r>
            <a:r>
              <a:rPr lang="es-ES" sz="2000"/>
              <a:t> and </a:t>
            </a:r>
            <a:r>
              <a:rPr lang="es-ES" sz="2000" err="1"/>
              <a:t>correlation</a:t>
            </a:r>
            <a:r>
              <a:rPr lang="es-ES" sz="2000"/>
              <a:t> </a:t>
            </a:r>
            <a:r>
              <a:rPr lang="es-ES" sz="2000" err="1"/>
              <a:t>constrained</a:t>
            </a:r>
            <a:r>
              <a:rPr lang="es-ES" sz="2000"/>
              <a:t> </a:t>
            </a:r>
            <a:r>
              <a:rPr lang="es-ES" sz="2000" err="1"/>
              <a:t>FastICA</a:t>
            </a:r>
            <a:r>
              <a:rPr lang="es-ES" sz="2000"/>
              <a:t>,” </a:t>
            </a:r>
            <a:r>
              <a:rPr lang="es-ES" sz="2000" i="1"/>
              <a:t>IEEE Trans. Neural </a:t>
            </a:r>
            <a:r>
              <a:rPr lang="es-ES" sz="2000" i="1" err="1"/>
              <a:t>Syst</a:t>
            </a:r>
            <a:r>
              <a:rPr lang="es-ES" sz="2000" i="1"/>
              <a:t>. </a:t>
            </a:r>
            <a:r>
              <a:rPr lang="es-ES" sz="2000" i="1" err="1"/>
              <a:t>Rehabil</a:t>
            </a:r>
            <a:r>
              <a:rPr lang="es-ES" sz="2000" i="1"/>
              <a:t>. Eng.</a:t>
            </a:r>
            <a:r>
              <a:rPr lang="es-ES" sz="2000"/>
              <a:t>, 2024</a:t>
            </a:r>
          </a:p>
          <a:p>
            <a:pPr marL="0" indent="0">
              <a:buNone/>
            </a:pPr>
            <a:r>
              <a:rPr lang="es-ES" sz="2000"/>
              <a:t>[3]</a:t>
            </a:r>
            <a:r>
              <a:rPr lang="en-US" sz="2000"/>
              <a:t> T.-P. Jung et al., “Extended ICA removes artifacts from electroencephalographic recordings,” NIPS, 1998.</a:t>
            </a:r>
          </a:p>
          <a:p>
            <a:pPr marL="0" indent="0">
              <a:buNone/>
            </a:pPr>
            <a:r>
              <a:rPr lang="en-US" sz="2000"/>
              <a:t>[4]</a:t>
            </a:r>
            <a:r>
              <a:rPr lang="es-ES" sz="2000"/>
              <a:t> K. D. </a:t>
            </a:r>
            <a:r>
              <a:rPr lang="es-ES" sz="2000" err="1"/>
              <a:t>Bergmeister</a:t>
            </a:r>
            <a:r>
              <a:rPr lang="es-ES" sz="2000"/>
              <a:t> </a:t>
            </a:r>
            <a:r>
              <a:rPr lang="es-ES" sz="2000" i="1"/>
              <a:t>et al.</a:t>
            </a:r>
            <a:r>
              <a:rPr lang="es-ES" sz="2000"/>
              <a:t>, “</a:t>
            </a:r>
            <a:r>
              <a:rPr lang="es-ES" sz="2000" err="1"/>
              <a:t>Broadband</a:t>
            </a:r>
            <a:r>
              <a:rPr lang="es-ES" sz="2000"/>
              <a:t> </a:t>
            </a:r>
            <a:r>
              <a:rPr lang="es-ES" sz="2000" err="1"/>
              <a:t>prosthetic</a:t>
            </a:r>
            <a:r>
              <a:rPr lang="es-ES" sz="2000"/>
              <a:t> interfaces: </a:t>
            </a:r>
            <a:r>
              <a:rPr lang="es-ES" sz="2000" err="1"/>
              <a:t>Combining</a:t>
            </a:r>
            <a:r>
              <a:rPr lang="es-ES" sz="2000"/>
              <a:t> </a:t>
            </a:r>
            <a:r>
              <a:rPr lang="es-ES" sz="2000" err="1"/>
              <a:t>nerve</a:t>
            </a:r>
            <a:r>
              <a:rPr lang="es-ES" sz="2000"/>
              <a:t> </a:t>
            </a:r>
            <a:r>
              <a:rPr lang="es-ES" sz="2000" err="1"/>
              <a:t>transfers</a:t>
            </a:r>
            <a:r>
              <a:rPr lang="es-ES" sz="2000"/>
              <a:t> and implantable </a:t>
            </a:r>
            <a:r>
              <a:rPr lang="es-ES" sz="2000" err="1"/>
              <a:t>multichannel</a:t>
            </a:r>
            <a:r>
              <a:rPr lang="es-ES" sz="2000"/>
              <a:t> EMG </a:t>
            </a:r>
            <a:r>
              <a:rPr lang="es-ES" sz="2000" err="1"/>
              <a:t>technology</a:t>
            </a:r>
            <a:r>
              <a:rPr lang="es-ES" sz="2000"/>
              <a:t> </a:t>
            </a:r>
            <a:r>
              <a:rPr lang="es-ES" sz="2000" err="1"/>
              <a:t>to</a:t>
            </a:r>
            <a:r>
              <a:rPr lang="es-ES" sz="2000"/>
              <a:t> </a:t>
            </a:r>
            <a:r>
              <a:rPr lang="es-ES" sz="2000" err="1"/>
              <a:t>decode</a:t>
            </a:r>
            <a:r>
              <a:rPr lang="es-ES" sz="2000"/>
              <a:t> </a:t>
            </a:r>
            <a:r>
              <a:rPr lang="es-ES" sz="2000" err="1"/>
              <a:t>spinal</a:t>
            </a:r>
            <a:r>
              <a:rPr lang="es-ES" sz="2000"/>
              <a:t> motor </a:t>
            </a:r>
            <a:r>
              <a:rPr lang="es-ES" sz="2000" err="1"/>
              <a:t>neuron</a:t>
            </a:r>
            <a:r>
              <a:rPr lang="es-ES" sz="2000"/>
              <a:t> </a:t>
            </a:r>
            <a:r>
              <a:rPr lang="es-ES" sz="2000" err="1"/>
              <a:t>activity</a:t>
            </a:r>
            <a:r>
              <a:rPr lang="es-ES" sz="2000"/>
              <a:t>,” </a:t>
            </a:r>
            <a:r>
              <a:rPr lang="es-ES" sz="2000" i="1"/>
              <a:t>Front. </a:t>
            </a:r>
            <a:r>
              <a:rPr lang="es-ES" sz="2000" i="1" err="1"/>
              <a:t>Neurosci</a:t>
            </a:r>
            <a:r>
              <a:rPr lang="es-ES" sz="2000" i="1"/>
              <a:t>.</a:t>
            </a:r>
            <a:r>
              <a:rPr lang="es-ES" sz="2000"/>
              <a:t>, vol. 11, 2017</a:t>
            </a:r>
          </a:p>
          <a:p>
            <a:pPr marL="0" indent="0">
              <a:buNone/>
            </a:pPr>
            <a:r>
              <a:rPr lang="es-ES" sz="2000"/>
              <a:t>[5] J. González-Prieto </a:t>
            </a:r>
            <a:r>
              <a:rPr lang="es-ES" sz="2000" i="1"/>
              <a:t>et </a:t>
            </a:r>
            <a:r>
              <a:rPr lang="es-ES" sz="2000" i="1" err="1"/>
              <a:t>al.</a:t>
            </a:r>
            <a:r>
              <a:rPr lang="es-ES" sz="2000" err="1"/>
              <a:t>,“Regenerative</a:t>
            </a:r>
            <a:r>
              <a:rPr lang="es-ES" sz="2000"/>
              <a:t> </a:t>
            </a:r>
            <a:r>
              <a:rPr lang="es-ES" sz="2000" err="1"/>
              <a:t>Peripheral</a:t>
            </a:r>
            <a:r>
              <a:rPr lang="es-ES" sz="2000"/>
              <a:t> </a:t>
            </a:r>
            <a:r>
              <a:rPr lang="es-ES" sz="2000" err="1"/>
              <a:t>Nerve</a:t>
            </a:r>
            <a:r>
              <a:rPr lang="es-ES" sz="2000"/>
              <a:t> Interfaces (</a:t>
            </a:r>
            <a:r>
              <a:rPr lang="es-ES" sz="2000" err="1"/>
              <a:t>RPNIs</a:t>
            </a:r>
            <a:r>
              <a:rPr lang="es-ES" sz="2000"/>
              <a:t>) in Animal </a:t>
            </a:r>
            <a:r>
              <a:rPr lang="es-ES" sz="2000" err="1"/>
              <a:t>Models</a:t>
            </a:r>
            <a:r>
              <a:rPr lang="es-ES" sz="2000"/>
              <a:t> and </a:t>
            </a:r>
            <a:r>
              <a:rPr lang="es-ES" sz="2000" err="1"/>
              <a:t>Their</a:t>
            </a:r>
            <a:r>
              <a:rPr lang="es-ES" sz="2000"/>
              <a:t> </a:t>
            </a:r>
            <a:r>
              <a:rPr lang="es-ES" sz="2000" err="1"/>
              <a:t>Applications</a:t>
            </a:r>
            <a:r>
              <a:rPr lang="es-ES" sz="2000"/>
              <a:t>: A </a:t>
            </a:r>
            <a:r>
              <a:rPr lang="es-ES" sz="2000" err="1"/>
              <a:t>Systematic</a:t>
            </a:r>
            <a:r>
              <a:rPr lang="es-ES" sz="2000"/>
              <a:t> </a:t>
            </a:r>
            <a:r>
              <a:rPr lang="es-ES" sz="2000" err="1"/>
              <a:t>Review</a:t>
            </a:r>
            <a:r>
              <a:rPr lang="es-ES" sz="2000"/>
              <a:t>,”</a:t>
            </a:r>
            <a:br>
              <a:rPr lang="es-ES" sz="2000"/>
            </a:br>
            <a:r>
              <a:rPr lang="es-ES" sz="2000" i="1"/>
              <a:t>International </a:t>
            </a:r>
            <a:r>
              <a:rPr lang="es-ES" sz="2000" i="1" err="1"/>
              <a:t>Journal</a:t>
            </a:r>
            <a:r>
              <a:rPr lang="es-ES" sz="2000" i="1"/>
              <a:t> </a:t>
            </a:r>
            <a:r>
              <a:rPr lang="es-ES" sz="2000" i="1" err="1"/>
              <a:t>of</a:t>
            </a:r>
            <a:r>
              <a:rPr lang="es-ES" sz="2000" i="1"/>
              <a:t> Molecular </a:t>
            </a:r>
            <a:r>
              <a:rPr lang="es-ES" sz="2000" i="1" err="1"/>
              <a:t>Sciences</a:t>
            </a:r>
            <a:r>
              <a:rPr lang="es-ES" sz="2000"/>
              <a:t>, 2024.</a:t>
            </a:r>
          </a:p>
          <a:p>
            <a:pPr marL="0" indent="0">
              <a:buNone/>
            </a:pPr>
            <a:r>
              <a:rPr lang="es-ES" sz="2000"/>
              <a:t>[6] E. </a:t>
            </a:r>
            <a:r>
              <a:rPr lang="es-ES" sz="2000" err="1"/>
              <a:t>Pettersen</a:t>
            </a:r>
            <a:r>
              <a:rPr lang="es-ES" sz="2000"/>
              <a:t> </a:t>
            </a:r>
            <a:r>
              <a:rPr lang="es-ES" sz="2000" i="1"/>
              <a:t>et al.</a:t>
            </a:r>
            <a:r>
              <a:rPr lang="es-ES" sz="2000"/>
              <a:t>, “Regenerative </a:t>
            </a:r>
            <a:r>
              <a:rPr lang="es-ES" sz="2000" err="1"/>
              <a:t>Peripheral</a:t>
            </a:r>
            <a:r>
              <a:rPr lang="es-ES" sz="2000"/>
              <a:t> </a:t>
            </a:r>
            <a:r>
              <a:rPr lang="es-ES" sz="2000" err="1"/>
              <a:t>Nerve</a:t>
            </a:r>
            <a:r>
              <a:rPr lang="es-ES" sz="2000"/>
              <a:t> Interface: </a:t>
            </a:r>
            <a:r>
              <a:rPr lang="es-ES" sz="2000" err="1"/>
              <a:t>Surgical</a:t>
            </a:r>
            <a:r>
              <a:rPr lang="es-ES" sz="2000"/>
              <a:t> </a:t>
            </a:r>
            <a:r>
              <a:rPr lang="es-ES" sz="2000" err="1"/>
              <a:t>Protocol</a:t>
            </a:r>
            <a:r>
              <a:rPr lang="es-ES" sz="2000"/>
              <a:t> </a:t>
            </a:r>
            <a:r>
              <a:rPr lang="es-ES" sz="2000" err="1"/>
              <a:t>for</a:t>
            </a:r>
            <a:r>
              <a:rPr lang="es-ES" sz="2000"/>
              <a:t> a </a:t>
            </a:r>
            <a:r>
              <a:rPr lang="es-ES" sz="2000" err="1"/>
              <a:t>Randomized</a:t>
            </a:r>
            <a:r>
              <a:rPr lang="es-ES" sz="2000"/>
              <a:t> </a:t>
            </a:r>
            <a:r>
              <a:rPr lang="es-ES" sz="2000" err="1"/>
              <a:t>Controlled</a:t>
            </a:r>
            <a:r>
              <a:rPr lang="es-ES" sz="2000"/>
              <a:t> Trial in </a:t>
            </a:r>
            <a:r>
              <a:rPr lang="es-ES" sz="2000" err="1"/>
              <a:t>Postamputation</a:t>
            </a:r>
            <a:r>
              <a:rPr lang="es-ES" sz="2000"/>
              <a:t> </a:t>
            </a:r>
            <a:r>
              <a:rPr lang="es-ES" sz="2000" err="1"/>
              <a:t>Pain</a:t>
            </a:r>
            <a:r>
              <a:rPr lang="es-ES" sz="2000"/>
              <a:t>,” </a:t>
            </a:r>
            <a:r>
              <a:rPr lang="es-ES" sz="2000" i="1"/>
              <a:t>J. Vis. </a:t>
            </a:r>
            <a:r>
              <a:rPr lang="es-ES" sz="2000" i="1" err="1"/>
              <a:t>Exp</a:t>
            </a:r>
            <a:r>
              <a:rPr lang="es-ES" sz="2000" i="1"/>
              <a:t>.</a:t>
            </a:r>
            <a:r>
              <a:rPr lang="es-ES" sz="2000"/>
              <a:t>, no. 205, p. e66378, 2024.</a:t>
            </a:r>
          </a:p>
          <a:p>
            <a:pPr marL="0" indent="0">
              <a:buNone/>
            </a:pPr>
            <a:endParaRPr lang="es-ES" sz="2000"/>
          </a:p>
        </p:txBody>
      </p:sp>
    </p:spTree>
    <p:extLst>
      <p:ext uri="{BB962C8B-B14F-4D97-AF65-F5344CB8AC3E}">
        <p14:creationId xmlns:p14="http://schemas.microsoft.com/office/powerpoint/2010/main" val="17962824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C8A3D-8E31-F8E0-0A12-69008819C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8A84E-847F-378D-980A-8B2F71071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REFERENCIAS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AD8D2-5F81-3FAE-398D-65F28608A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319" y="848360"/>
            <a:ext cx="7912188" cy="5476240"/>
          </a:xfrm>
        </p:spPr>
        <p:txBody>
          <a:bodyPr/>
          <a:lstStyle/>
          <a:p>
            <a:pPr marL="0" indent="0">
              <a:buNone/>
            </a:pPr>
            <a:r>
              <a:rPr lang="en-US" sz="2000"/>
              <a:t>[7]</a:t>
            </a:r>
            <a:r>
              <a:rPr lang="es-ES" sz="2000"/>
              <a:t> S. M. </a:t>
            </a:r>
            <a:r>
              <a:rPr lang="es-ES" sz="2000" err="1"/>
              <a:t>Simon</a:t>
            </a:r>
            <a:r>
              <a:rPr lang="es-ES" sz="2000"/>
              <a:t> </a:t>
            </a:r>
            <a:r>
              <a:rPr lang="es-ES" sz="2000" i="1"/>
              <a:t>et al.</a:t>
            </a:r>
            <a:r>
              <a:rPr lang="es-ES" sz="2000"/>
              <a:t>, “</a:t>
            </a:r>
            <a:r>
              <a:rPr lang="es-ES" sz="2000" err="1"/>
              <a:t>Myoelectric</a:t>
            </a:r>
            <a:r>
              <a:rPr lang="es-ES" sz="2000"/>
              <a:t> </a:t>
            </a:r>
            <a:r>
              <a:rPr lang="es-ES" sz="2000" err="1"/>
              <a:t>prosthesis</a:t>
            </a:r>
            <a:r>
              <a:rPr lang="es-ES" sz="2000"/>
              <a:t> </a:t>
            </a:r>
            <a:r>
              <a:rPr lang="es-ES" sz="2000" err="1"/>
              <a:t>hand</a:t>
            </a:r>
            <a:r>
              <a:rPr lang="es-ES" sz="2000"/>
              <a:t> </a:t>
            </a:r>
            <a:r>
              <a:rPr lang="es-ES" sz="2000" err="1"/>
              <a:t>grasp</a:t>
            </a:r>
            <a:r>
              <a:rPr lang="es-ES" sz="2000"/>
              <a:t> control </a:t>
            </a:r>
            <a:r>
              <a:rPr lang="es-ES" sz="2000" err="1"/>
              <a:t>following</a:t>
            </a:r>
            <a:r>
              <a:rPr lang="es-ES" sz="2000"/>
              <a:t> </a:t>
            </a:r>
            <a:r>
              <a:rPr lang="es-ES" sz="2000" err="1"/>
              <a:t>targeted</a:t>
            </a:r>
            <a:r>
              <a:rPr lang="es-ES" sz="2000"/>
              <a:t> </a:t>
            </a:r>
            <a:r>
              <a:rPr lang="es-ES" sz="2000" err="1"/>
              <a:t>muscle</a:t>
            </a:r>
            <a:r>
              <a:rPr lang="es-ES" sz="2000"/>
              <a:t> </a:t>
            </a:r>
            <a:r>
              <a:rPr lang="es-ES" sz="2000" err="1"/>
              <a:t>reinnervation</a:t>
            </a:r>
            <a:r>
              <a:rPr lang="es-ES" sz="2000"/>
              <a:t> in </a:t>
            </a:r>
            <a:r>
              <a:rPr lang="es-ES" sz="2000" err="1"/>
              <a:t>individuals</a:t>
            </a:r>
            <a:r>
              <a:rPr lang="es-ES" sz="2000"/>
              <a:t> </a:t>
            </a:r>
            <a:r>
              <a:rPr lang="es-ES" sz="2000" err="1"/>
              <a:t>with</a:t>
            </a:r>
            <a:r>
              <a:rPr lang="es-ES" sz="2000"/>
              <a:t> </a:t>
            </a:r>
            <a:r>
              <a:rPr lang="es-ES" sz="2000" err="1"/>
              <a:t>transradial</a:t>
            </a:r>
            <a:r>
              <a:rPr lang="es-ES" sz="2000"/>
              <a:t> </a:t>
            </a:r>
            <a:r>
              <a:rPr lang="es-ES" sz="2000" err="1"/>
              <a:t>amputation</a:t>
            </a:r>
            <a:r>
              <a:rPr lang="es-ES" sz="2000"/>
              <a:t>,” </a:t>
            </a:r>
            <a:r>
              <a:rPr lang="es-ES" sz="2000" i="1" err="1"/>
              <a:t>PLoS</a:t>
            </a:r>
            <a:r>
              <a:rPr lang="es-ES" sz="2000" i="1"/>
              <a:t> </a:t>
            </a:r>
            <a:r>
              <a:rPr lang="es-ES" sz="2000" i="1" err="1"/>
              <a:t>One</a:t>
            </a:r>
            <a:r>
              <a:rPr lang="es-ES" sz="2000"/>
              <a:t>, 2023</a:t>
            </a:r>
          </a:p>
          <a:p>
            <a:pPr marL="0" indent="0">
              <a:buNone/>
            </a:pPr>
            <a:r>
              <a:rPr lang="en-US" sz="2000"/>
              <a:t>[8] D. Stansbury, “The Statistical Whitening Transform,” </a:t>
            </a:r>
            <a:r>
              <a:rPr lang="en-US" sz="2000" i="1"/>
              <a:t>The Clever Machine</a:t>
            </a:r>
            <a:r>
              <a:rPr lang="en-US" sz="2000"/>
              <a:t>, Mar. 30.</a:t>
            </a:r>
            <a:endParaRPr lang="es-ES" sz="2000"/>
          </a:p>
          <a:p>
            <a:pPr marL="0" indent="0">
              <a:buNone/>
            </a:pPr>
            <a:r>
              <a:rPr lang="es-ES" sz="2000"/>
              <a:t>[9] S. </a:t>
            </a:r>
            <a:r>
              <a:rPr lang="es-ES" sz="2000" err="1"/>
              <a:t>Muceli</a:t>
            </a:r>
            <a:r>
              <a:rPr lang="es-ES" sz="2000"/>
              <a:t> y R. </a:t>
            </a:r>
            <a:r>
              <a:rPr lang="es-ES" sz="2000" err="1"/>
              <a:t>Merletti</a:t>
            </a:r>
            <a:r>
              <a:rPr lang="es-ES" sz="2000"/>
              <a:t>, «Tutorial. </a:t>
            </a:r>
            <a:r>
              <a:rPr lang="es-ES" sz="2000" err="1"/>
              <a:t>Frequency</a:t>
            </a:r>
            <a:r>
              <a:rPr lang="es-ES" sz="2000"/>
              <a:t> </a:t>
            </a:r>
            <a:r>
              <a:rPr lang="es-ES" sz="2000" err="1"/>
              <a:t>analysis</a:t>
            </a:r>
            <a:r>
              <a:rPr lang="es-ES" sz="2000"/>
              <a:t> </a:t>
            </a:r>
            <a:r>
              <a:rPr lang="es-ES" sz="2000" err="1"/>
              <a:t>of</a:t>
            </a:r>
            <a:r>
              <a:rPr lang="es-ES" sz="2000"/>
              <a:t> </a:t>
            </a:r>
            <a:r>
              <a:rPr lang="es-ES" sz="2000" err="1"/>
              <a:t>the</a:t>
            </a:r>
            <a:r>
              <a:rPr lang="es-ES" sz="2000"/>
              <a:t> </a:t>
            </a:r>
            <a:r>
              <a:rPr lang="es-ES" sz="2000" err="1"/>
              <a:t>surface</a:t>
            </a:r>
            <a:r>
              <a:rPr lang="es-ES" sz="2000"/>
              <a:t> EMG </a:t>
            </a:r>
            <a:r>
              <a:rPr lang="es-ES" sz="2000" err="1"/>
              <a:t>signal</a:t>
            </a:r>
            <a:r>
              <a:rPr lang="es-ES" sz="2000"/>
              <a:t>: </a:t>
            </a:r>
            <a:r>
              <a:rPr lang="es-ES" sz="2000" err="1"/>
              <a:t>Best</a:t>
            </a:r>
            <a:r>
              <a:rPr lang="es-ES" sz="2000"/>
              <a:t> </a:t>
            </a:r>
            <a:r>
              <a:rPr lang="es-ES" sz="2000" err="1"/>
              <a:t>practices</a:t>
            </a:r>
            <a:r>
              <a:rPr lang="es-ES" sz="2000"/>
              <a:t>», </a:t>
            </a:r>
            <a:r>
              <a:rPr lang="es-ES" sz="2000" i="1" err="1"/>
              <a:t>Journal</a:t>
            </a:r>
            <a:r>
              <a:rPr lang="es-ES" sz="2000" i="1"/>
              <a:t> </a:t>
            </a:r>
            <a:r>
              <a:rPr lang="es-ES" sz="2000" i="1" err="1"/>
              <a:t>of</a:t>
            </a:r>
            <a:r>
              <a:rPr lang="es-ES" sz="2000" i="1"/>
              <a:t> </a:t>
            </a:r>
            <a:r>
              <a:rPr lang="es-ES" sz="2000" i="1" err="1"/>
              <a:t>Electromyography</a:t>
            </a:r>
            <a:r>
              <a:rPr lang="es-ES" sz="2000" i="1"/>
              <a:t> and </a:t>
            </a:r>
            <a:r>
              <a:rPr lang="es-ES" sz="2000" i="1" err="1"/>
              <a:t>Kinesiology</a:t>
            </a:r>
            <a:r>
              <a:rPr lang="es-ES" sz="2000"/>
              <a:t>, vol. 79, p. 102937, dic. 2024</a:t>
            </a:r>
            <a:endParaRPr lang="en-US" sz="2000"/>
          </a:p>
          <a:p>
            <a:pPr marL="0" indent="0">
              <a:buNone/>
            </a:pPr>
            <a:r>
              <a:rPr lang="es-ES" sz="2000"/>
              <a:t>[10] </a:t>
            </a:r>
            <a:r>
              <a:rPr lang="en-US" sz="2000"/>
              <a:t>G. R. Naik and W. Wang, Eds., </a:t>
            </a:r>
            <a:r>
              <a:rPr lang="en-US" sz="2000" i="1"/>
              <a:t>Blind Source Separation: Advances in Theory, Algorithms and Applications</a:t>
            </a:r>
            <a:r>
              <a:rPr lang="en-US" sz="2000"/>
              <a:t>. Springer, 2014.</a:t>
            </a:r>
            <a:endParaRPr lang="es-ES" sz="2000"/>
          </a:p>
          <a:p>
            <a:pPr marL="0" indent="0">
              <a:buNone/>
            </a:pPr>
            <a:endParaRPr lang="es-ES" sz="2000"/>
          </a:p>
        </p:txBody>
      </p:sp>
    </p:spTree>
    <p:extLst>
      <p:ext uri="{BB962C8B-B14F-4D97-AF65-F5344CB8AC3E}">
        <p14:creationId xmlns:p14="http://schemas.microsoft.com/office/powerpoint/2010/main" val="206768181"/>
      </p:ext>
    </p:extLst>
  </p:cSld>
  <p:clrMapOvr>
    <a:masterClrMapping/>
  </p:clrMapOvr>
</p:sld>
</file>

<file path=ppt/theme/theme1.xml><?xml version="1.0" encoding="utf-8"?>
<a:theme xmlns:a="http://schemas.openxmlformats.org/drawingml/2006/main" name="AnalisisPreliminarIIT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tron ICAI" id="{FE90A36C-7B08-4C56-A16B-46D85B16C124}" vid="{2DA1B88E-F612-417B-BAC2-700C90BC7A0B}"/>
    </a:ext>
  </a:ext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FB3B16D-F639-41AF-AA8C-4966FE5B3B79}">
  <we:reference id="4b785c87-866c-4bad-85d8-5d1ae467ac9a" version="3.22.0.0" store="EXCatalog" storeType="EXCatalog"/>
  <we:alternateReferences>
    <we:reference id="WA104381909" version="3.22.0.0" store="en-US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6EFD502BE8E5A4798A71439EDA09753" ma:contentTypeVersion="13" ma:contentTypeDescription="Crear nuevo documento." ma:contentTypeScope="" ma:versionID="b6a1abe343dfb6854d375504dac41ca8">
  <xsd:schema xmlns:xsd="http://www.w3.org/2001/XMLSchema" xmlns:xs="http://www.w3.org/2001/XMLSchema" xmlns:p="http://schemas.microsoft.com/office/2006/metadata/properties" xmlns:ns3="cc73b59b-cf87-4178-920d-e34fedb7f7f1" xmlns:ns4="58835b10-8590-44e8-a510-9959c5631a94" targetNamespace="http://schemas.microsoft.com/office/2006/metadata/properties" ma:root="true" ma:fieldsID="6837603b397ff871b4cf08d57de13915" ns3:_="" ns4:_="">
    <xsd:import namespace="cc73b59b-cf87-4178-920d-e34fedb7f7f1"/>
    <xsd:import namespace="58835b10-8590-44e8-a510-9959c5631a9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73b59b-cf87-4178-920d-e34fedb7f7f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835b10-8590-44e8-a510-9959c5631a94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c73b59b-cf87-4178-920d-e34fedb7f7f1" xsi:nil="true"/>
  </documentManagement>
</p:properties>
</file>

<file path=customXml/itemProps1.xml><?xml version="1.0" encoding="utf-8"?>
<ds:datastoreItem xmlns:ds="http://schemas.openxmlformats.org/officeDocument/2006/customXml" ds:itemID="{D983789E-DF08-4CEB-9B28-6BDBE6CD1EC8}">
  <ds:schemaRefs>
    <ds:schemaRef ds:uri="58835b10-8590-44e8-a510-9959c5631a94"/>
    <ds:schemaRef ds:uri="cc73b59b-cf87-4178-920d-e34fedb7f7f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F695B4F-A284-40CE-A208-D76DF565254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65C06F2-6811-4915-8A08-5BDC663684E5}">
  <ds:schemaRefs>
    <ds:schemaRef ds:uri="http://schemas.microsoft.com/office/2006/metadata/properties"/>
    <ds:schemaRef ds:uri="http://schemas.microsoft.com/office/infopath/2007/PartnerControls"/>
    <ds:schemaRef ds:uri="http://purl.org/dc/terms/"/>
    <ds:schemaRef ds:uri="http://www.w3.org/XML/1998/namespace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58835b10-8590-44e8-a510-9959c5631a94"/>
    <ds:schemaRef ds:uri="cc73b59b-cf87-4178-920d-e34fedb7f7f1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bcd2701c-aa9b-4d12-ba20-f3e3b83070c1}" enabled="0" method="" siteId="{bcd2701c-aa9b-4d12-ba20-f3e3b83070c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patron ICAI</Template>
  <TotalTime>0</TotalTime>
  <Words>1127</Words>
  <Application>Microsoft Office PowerPoint</Application>
  <PresentationFormat>On-screen Show (4:3)</PresentationFormat>
  <Paragraphs>189</Paragraphs>
  <Slides>22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Optima</vt:lpstr>
      <vt:lpstr>Wingdings</vt:lpstr>
      <vt:lpstr>AnalisisPreliminarIIT</vt:lpstr>
      <vt:lpstr>Trabajo Fin de Grado Separación de señales electromiográficas según músculo de referencia</vt:lpstr>
      <vt:lpstr>Índice de la presentación</vt:lpstr>
      <vt:lpstr>1</vt:lpstr>
      <vt:lpstr>Separación de fuentes - Telecomunicaciones </vt:lpstr>
      <vt:lpstr>Contexto y Estado del Arte</vt:lpstr>
      <vt:lpstr>Motivación: Reinervación muscular</vt:lpstr>
      <vt:lpstr>Objetivos</vt:lpstr>
      <vt:lpstr>2</vt:lpstr>
      <vt:lpstr>Planificación vs Estado Actual</vt:lpstr>
      <vt:lpstr>3</vt:lpstr>
      <vt:lpstr>Bases de datos </vt:lpstr>
      <vt:lpstr>Preprocesamiento</vt:lpstr>
      <vt:lpstr>Modelaje</vt:lpstr>
      <vt:lpstr>ICA – Independencia estadística</vt:lpstr>
      <vt:lpstr>ICA – Independencia estadística</vt:lpstr>
      <vt:lpstr>SOBI – Independencia Temporal</vt:lpstr>
      <vt:lpstr>SOBI – Independencia Temporal</vt:lpstr>
      <vt:lpstr>Separación semi-ciega</vt:lpstr>
      <vt:lpstr>4</vt:lpstr>
      <vt:lpstr>Conclusiones</vt:lpstr>
      <vt:lpstr>REFERENCIAS</vt:lpstr>
      <vt:lpstr>REFERENCIAS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Trabajo Fin de Grado Separación de señales electromiográficas según músculo de referencia</dc:title>
  <dc:creator>Antón Cobian Iregui</dc:creator>
  <cp:keywords>transformadores</cp:keywords>
  <cp:lastModifiedBy>Antón Cobian Iregui</cp:lastModifiedBy>
  <cp:revision>1</cp:revision>
  <cp:lastPrinted>2014-09-02T23:13:43Z</cp:lastPrinted>
  <dcterms:created xsi:type="dcterms:W3CDTF">2026-01-30T22:41:14Z</dcterms:created>
  <dcterms:modified xsi:type="dcterms:W3CDTF">2026-04-07T04:16:31Z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0x01010096EFD502BE8E5A4798A71439EDA09753</vt:lpwstr>
  </property>
</Properties>
</file>